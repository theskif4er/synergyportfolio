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Apple Human Interface Guidelines: https://developer.apple.com/design/human-interface-guidelines/
- Apple HIG — Typography: https://developer.apple.com/design/human-interface-guidelines/typography
- Apple HIG — Accessibility: https://developer.apple.com/design/human-interface-guidelines/accessibility
- Apple HIG — Designing for iOS: https://developer.apple.com/design/human-interface-guidelines/designing-for-ios
- Material Design 3 — target sizes: https://m3.material.io/foundations/designing/structure
- W3C WCAG 2.2 — Target Size (Minimum): https://www.w3.org/WAI/WCAG22/Understanding/target-size-minimum.html
- W3C WCAG 2.2 overview: https://www.w3.org/TR/WCAG22/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Open Bionics Hero Arm page: https://openbionics.com/hero-arm/
- Open Bionics home/search result: https://openbionics.com/
- Össur i-Limb apps page: https://www.ossur.com/en-au/professionals/apps/i-limb-mobile-apps
- Össur apps hub: https://www.ossur.com/en-us/professionals/apps
- App Store — my i-limb: https://apps.apple.com/us/app/my-i-limb/id704433967
- Unlimited Tomorrow TrueLimb page: https://www.unlimitedtomorrow.com/truelimb/
- Unlimited Tomorrow process overview: https://www.unlimitedtomorrow.com/overview/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Ottobock home and clinic locator: https://www.ottobock.com/en-us/home ; https://www.ottobock.com/en-us/expert
- Cochlear home and clinic finder: https://www.cochlear.com/us/en/home ; https://www.cochlear.com/us/en/connect/find-a-clinic
- Neuralink patient portal and trials: https://portal.neuralink.com/ ; https://neuralink.com/trials/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Сводная аналитика сделана на основе официальных страниц Open Bionics, Össur, Unlimited Tomorrow, Ottobock, Cochlear и Neuralink, перечисленных на предыдущих слайдах.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" Target="slide[object Object].xml"/><Relationship Id="rId3" Type="http://schemas.openxmlformats.org/officeDocument/2006/relationships/slide" Target="slide[object Object].xml"/><Relationship Id="rId4" Type="http://schemas.openxmlformats.org/officeDocument/2006/relationships/slide" Target="slide[object Object].xml"/><Relationship Id="rId5" Type="http://schemas.openxmlformats.org/officeDocument/2006/relationships/slide" Target="slide[object Object].xml"/><Relationship Id="rId6" Type="http://schemas.openxmlformats.org/officeDocument/2006/relationships/slide" Target="slide[object Object].xml"/><Relationship Id="rId7" Type="http://schemas.openxmlformats.org/officeDocument/2006/relationships/slide" Target="slide[object Object]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" Target="slide[object Object].xml"/><Relationship Id="rId3" Type="http://schemas.openxmlformats.org/officeDocument/2006/relationships/slide" Target="slide[object Object]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" Target="slide[object Object].xml"/><Relationship Id="rId3" Type="http://schemas.openxmlformats.org/officeDocument/2006/relationships/slide" Target="slide[object Object]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" Target="slide[object Object]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[object Object].xml"/><Relationship Id="rId2" Type="http://schemas.openxmlformats.org/officeDocument/2006/relationships/slide" Target="slide[object Object]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UX-концепт мобильного приложения для подбора кибер-имплантов и новых носителей в 3077 году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Практическое задание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892040" cy="45262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внутри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2082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21488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ресерч текущих сервисов по имплантам и протезированию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6654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26060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пользователя и список экранов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1226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30632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мета-прототипы и user flow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5798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" y="35204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детализированные экраны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0370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9776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кликабельный prototype внутри PPTX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5074920"/>
            <a:ext cx="274320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5125212"/>
            <a:ext cx="2633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Аудитория: 60+ и люди с ограничениями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715000" y="1417320"/>
            <a:ext cx="5897880" cy="4526280"/>
          </a:xfrm>
          <a:prstGeom prst="roundRect">
            <a:avLst>
              <a:gd name="adj" fmla="val 484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322580000" dist="241935000" dir="162000000000">
              <a:srgbClr val="000000">
                <a:alpha val="150000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 концепта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80760" y="2084832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«киберпанк ради киберпанка», а понятный медицинский маркетплейс: крупный шрифт, один главный шаг на экран и обязательный доступ к живой помощи.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80760" y="3090672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320040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имплантов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80760" y="3621024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730752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тел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0760" y="4151376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426110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4681728"/>
            <a:ext cx="2240280" cy="384048"/>
          </a:xfrm>
          <a:prstGeom prst="roundRect">
            <a:avLst>
              <a:gd name="adj" fmla="val 23810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4791456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Консультация / установка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549640" y="5120640"/>
            <a:ext cx="2697480" cy="502920"/>
          </a:xfrm>
          <a:prstGeom prst="roundRect">
            <a:avLst>
              <a:gd name="adj" fmla="val 21818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4096766000000" dist="3072574500000" dir="9720000000000000">
              <a:srgbClr val="000000">
                <a:alpha val="150000000000000"/>
              </a:srgbClr>
            </a:outerShdw>
          </a:effectLst>
        </p:spPr>
      </p:sp>
      <p:sp>
        <p:nvSpPr>
          <p:cNvPr id="33" name="Text 31">
            <a:hlinkClick r:id="rId1" tooltip="" action="ppaction://hlinksldjump"/>
          </p:cNvPr>
          <p:cNvSpPr/>
          <p:nvPr/>
        </p:nvSpPr>
        <p:spPr>
          <a:xfrm>
            <a:off x="8641080" y="5230368"/>
            <a:ext cx="2514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Перейти к структуре решения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 • дипломный UX-концепт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Дизайн-рамка под аудиторию 60+ и пользователей с ограничениями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основе Apple HIG, Material Design и WCAG 2.2: крупная типографика, ясная иерархия, большие зоны нажатия, видимый фокус и минимальная перегрузка.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brief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2651760" cy="44805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52028928200000000" dist="39021696150000000" dir="583200000000000000000">
              <a:srgbClr val="000000">
                <a:alpha val="150000000000000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 продукта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77824" y="208940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29968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дорогой и сложный выбор, связанный со здоровьем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7824" y="267462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615184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нужен путь «подобрать → уточнить → получить помощь»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" y="325983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320040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интерфейсе важнее уверенность, чем вау-эффект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" y="384505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78561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стиль — футуристичный, но очень спокойный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5413248"/>
            <a:ext cx="214884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5463540"/>
            <a:ext cx="2039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UX-цель: довести до безопасного заказа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11880" y="1463040"/>
            <a:ext cx="315468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660767388140000000000" dist="495575541105000000000" dir="3.4992e+25">
              <a:srgbClr val="000000">
                <a:alpha val="1.5e+2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609344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165963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Крупная типографика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76472" y="20299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Главные тексты 20–24 pt, ключевые действия визуально сильнее вторичных.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60920" y="1463040"/>
            <a:ext cx="315468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8.391745829378e+24" dist="6.2938093720335e+24" dir="2.09952e+30">
              <a:srgbClr val="000000">
                <a:alpha val="1.5e+2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07224" y="1609344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62088" y="1659636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Большие тач-зоны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525512" y="20299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основные CTA и карточки — не мельче 48 dp / 44 pt по высоте.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11880" y="3182112"/>
            <a:ext cx="315468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0657517203310059e+29" dist="7.993137902482545e+28" dir="1.259712e+35">
              <a:srgbClr val="000000">
                <a:alpha val="1.4999999999999999e+34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58184" y="3328416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13048" y="3378708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Мало решений на экран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776472" y="374904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главный шаг, остальные действия убраны в мягкие вторичные кнопки.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60920" y="3182112"/>
            <a:ext cx="315468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3535046848203775e+33" dist="1.0151285136152831e+33" dir="7.558272e+39">
              <a:srgbClr val="000000">
                <a:alpha val="1.5e+39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07224" y="3328416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62088" y="3378708"/>
            <a:ext cx="1764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Помощь рядом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525512" y="3749040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«Нужна помощь» доступна на всех ключевых шагах заказа.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11880" y="5029200"/>
            <a:ext cx="690372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22192" y="5285232"/>
            <a:ext cx="6446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для CHANGEBODY: интерфейс должен вести пользователя как клинический ассистент — спокойно, пошагово и с понятным подтверждением каждого решения.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в speaker notes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Ресерч похожих сервисов: продуктовые и сервисные паттерны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ниже — схематичные реконструкции по официальным страницам и приложениям, чтобы показать не визуальный стиль бренда, а логику контента и CTA.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research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3703320" cy="452628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7189509497218795e+37" dist="1.2892132122914095e+37" dir="4.5349632000000006e+44">
              <a:srgbClr val="000000">
                <a:alpha val="1.5e+4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609344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5963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/ продукт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92224" y="1600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Bionics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901952"/>
            <a:ext cx="341071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1901952"/>
            <a:ext cx="3410712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1938528"/>
            <a:ext cx="45720" cy="45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1938528"/>
            <a:ext cx="45720" cy="457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1938528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112264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Hero Arm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2377440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bionic arm for adults and children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822960" y="254203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for funding form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822960" y="270662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covers + stories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22960" y="2615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26654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eligibility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3232" y="3063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Сразу объясняет продукт, даёт форму qualification прямо на странице и добавляет сильный блок персонализации + отзывы.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3803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Целевое действие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13232" y="3986784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Оставить данные и проверить, подходит ли Hero Arm.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4370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взять в CHANGEBODY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13232" y="4553712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карточке импланта нужен блок «подходит ли вам», кастомизация и социальное доказательство.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44568" y="1463040"/>
            <a:ext cx="3703320" cy="4526280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2.183067706146787e+41" dist="1.6373007796100902e+41" dir="2.72097792e+49">
              <a:srgbClr val="000000">
                <a:alpha val="1.4999999999999999e+4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1609344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45736" y="165963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+ сайт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69864" y="1600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Össur / my i-limb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90872" y="1901952"/>
            <a:ext cx="3410712" cy="1024128"/>
          </a:xfrm>
          <a:prstGeom prst="roundRect">
            <a:avLst>
              <a:gd name="adj" fmla="val 7143"/>
            </a:avLst>
          </a:prstGeom>
          <a:solidFill>
            <a:srgbClr val="0F1A2D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90872" y="1901952"/>
            <a:ext cx="3410712" cy="146304"/>
          </a:xfrm>
          <a:prstGeom prst="rect">
            <a:avLst/>
          </a:prstGeom>
          <a:solidFill>
            <a:srgbClr val="1A2A42"/>
          </a:solidFill>
          <a:ln w="12700">
            <a:solidFill>
              <a:srgbClr val="30425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4024" y="1938528"/>
            <a:ext cx="45720" cy="45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3752" y="1938528"/>
            <a:ext cx="45720" cy="457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83480" y="1938528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112264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i-limb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2377440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quick grips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4800600" y="2542032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health check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4800600" y="270662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muscle graph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4800600" y="2615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1A2743"/>
          </a:solidFill>
          <a:ln w="12700">
            <a:solidFill>
              <a:srgbClr val="1A27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26654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в App Store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90872" y="3063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690872" y="3255264"/>
            <a:ext cx="341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устройством вынесено в companion-app: быстрые режимы хвата, health check, график мышечных сигналов, обновления.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90872" y="3803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Целевое действие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690872" y="3986784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Скачать приложение и быстро настроить протез без компьютера.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90872" y="4370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взять в CHANGEBODY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4690872" y="4553712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 должен жить не только как магазин, но и как панель управления/поддержки после покупки.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522208" y="1463040"/>
            <a:ext cx="3108960" cy="45262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2.7724959868064195e+45" dist="2.0793719901048145e+45" dir="1.6325867520000003e+54">
              <a:srgbClr val="000000">
                <a:alpha val="1.4999999999999998e+54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668512" y="1609344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23376" y="165963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/ сервис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747504" y="1600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Tomorrow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668512" y="1901952"/>
            <a:ext cx="281635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668512" y="1901952"/>
            <a:ext cx="2816352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41664" y="1938528"/>
            <a:ext cx="45720" cy="45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851392" y="1938528"/>
            <a:ext cx="45720" cy="457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1120" y="1938528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78240" y="211226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Process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778240" y="2377440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consultation</a:t>
            </a:r>
            <a:endParaRPr lang="en-US" sz="770" dirty="0"/>
          </a:p>
        </p:txBody>
      </p:sp>
      <p:sp>
        <p:nvSpPr>
          <p:cNvPr id="60" name="Text 58"/>
          <p:cNvSpPr/>
          <p:nvPr/>
        </p:nvSpPr>
        <p:spPr>
          <a:xfrm>
            <a:off x="8778240" y="2542032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scanner</a:t>
            </a:r>
            <a:endParaRPr lang="en-US" sz="770" dirty="0"/>
          </a:p>
        </p:txBody>
      </p:sp>
      <p:sp>
        <p:nvSpPr>
          <p:cNvPr id="61" name="Text 59"/>
          <p:cNvSpPr/>
          <p:nvPr/>
        </p:nvSpPr>
        <p:spPr>
          <a:xfrm>
            <a:off x="8778240" y="2706624"/>
            <a:ext cx="2596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 delivery</a:t>
            </a:r>
            <a:endParaRPr lang="en-US" sz="770" dirty="0"/>
          </a:p>
        </p:txBody>
      </p:sp>
      <p:sp>
        <p:nvSpPr>
          <p:cNvPr id="62" name="Shape 60"/>
          <p:cNvSpPr/>
          <p:nvPr/>
        </p:nvSpPr>
        <p:spPr>
          <a:xfrm>
            <a:off x="8778240" y="2615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33104" y="26654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journey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668512" y="3063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8668512" y="3255264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акцент не на каталоге, а на прозрачном процессе: candidacy, 3D-сканирование, удалённая примерка, финальная доставка.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668512" y="3803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Целевое действие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8668512" y="3986784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journey / verify candidacy and purchase.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668512" y="4370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взять в CHANGEBODY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8668512" y="4553712"/>
            <a:ext cx="28163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Покупку дорогого апгрейда надо оформлять как управляемый journey с шагами и ожиданиями.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Схемы построены по официальным страницам и app listing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Ещё три паттерна: подбор через поддержку, истории и личный кабинет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медицинских и assistive-продуктах прямой каталог почти всегда поддерживается клиническим маршрутом: finder, stories, registry, onboarding.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research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63040"/>
            <a:ext cx="3657600" cy="4480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3.5210699032441527e+49" dist="2.640802427433114e+49" dir="9.795520512000002e+58">
              <a:srgbClr val="000000">
                <a:alpha val="1.4999999999999998e+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609344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65963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/ care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92224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Ottobock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1901952"/>
            <a:ext cx="33649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1901952"/>
            <a:ext cx="3364992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1938528"/>
            <a:ext cx="45720" cy="45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1938528"/>
            <a:ext cx="45720" cy="457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1938528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11226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Clinic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2377440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care in your area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822960" y="2542032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services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822960" y="270662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shortcuts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22960" y="2615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26654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clinic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13232" y="3063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13232" y="325526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Большой акцент на Clinic Locator и тематических входах: living with amputation, diagnoses, veterans, adaptive sports.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" y="3803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Целевое действие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13232" y="398678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клинику и попасть к сертифицированному специалисту.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4370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взять в CHANGEBODY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13232" y="4553712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CHANGEBODY нужен сценарий «рядом с вами» — клиники, домашняя установка, сервисные точки.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1463040"/>
            <a:ext cx="3657600" cy="4480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4.471758777120074e+53" dist="3.353819082840055e+53" dir="5.877312307200001e+63">
              <a:srgbClr val="000000">
                <a:alpha val="1.4999999999999998e+6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26864" y="1609344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165963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/ education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05856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Cochlear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26864" y="1901952"/>
            <a:ext cx="336499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26864" y="1901952"/>
            <a:ext cx="3364992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0016" y="1938528"/>
            <a:ext cx="45720" cy="45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9744" y="1938528"/>
            <a:ext cx="45720" cy="457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1938528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211226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me find...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36592" y="2377440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families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4736592" y="2542032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finder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4736592" y="270662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stories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4736592" y="2615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26654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26864" y="3063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4626864" y="3255264"/>
            <a:ext cx="3364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Делит поток на guided entry «Help me find...», device support, clinic finder и patient stories.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26864" y="3803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Целевое действие</a:t>
            </a:r>
            <a:endParaRPr lang="en-US" sz="880" dirty="0"/>
          </a:p>
        </p:txBody>
      </p:sp>
      <p:sp>
        <p:nvSpPr>
          <p:cNvPr id="46" name="Text 44"/>
          <p:cNvSpPr/>
          <p:nvPr/>
        </p:nvSpPr>
        <p:spPr>
          <a:xfrm>
            <a:off x="4626864" y="3986784"/>
            <a:ext cx="3364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направление, узнать stories, перейти к clinic finder.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26864" y="4370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взять в CHANGEBODY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4626864" y="4553712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Нужен мягкий вход для новичков: не «товары», а «помогите подобрать решение».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394192" y="1463040"/>
            <a:ext cx="3218688" cy="4480560"/>
          </a:xfrm>
          <a:prstGeom prst="roundRect">
            <a:avLst>
              <a:gd name="adj" fmla="val 397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5.679133646942494e+57" dist="4.2593502352068695e+57" dir="3.526387384320001e+68">
              <a:srgbClr val="000000">
                <a:alpha val="1.4999999999999997e+69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540496" y="1609344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95360" y="1659636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/ registry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619488" y="160020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Neuralink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540496" y="1901952"/>
            <a:ext cx="2926080" cy="1024128"/>
          </a:xfrm>
          <a:prstGeom prst="roundRect">
            <a:avLst>
              <a:gd name="adj" fmla="val 7143"/>
            </a:avLst>
          </a:prstGeom>
          <a:solidFill>
            <a:srgbClr val="0F1A2D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40496" y="1901952"/>
            <a:ext cx="2926080" cy="146304"/>
          </a:xfrm>
          <a:prstGeom prst="rect">
            <a:avLst/>
          </a:prstGeom>
          <a:solidFill>
            <a:srgbClr val="1A2A42"/>
          </a:solidFill>
          <a:ln w="12700">
            <a:solidFill>
              <a:srgbClr val="30425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13648" y="1938528"/>
            <a:ext cx="45720" cy="4572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23376" y="1938528"/>
            <a:ext cx="45720" cy="4572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833104" y="1938528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50224" y="2112264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Portal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650224" y="2377440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sign up</a:t>
            </a:r>
            <a:endParaRPr lang="en-US" sz="770" dirty="0"/>
          </a:p>
        </p:txBody>
      </p:sp>
      <p:sp>
        <p:nvSpPr>
          <p:cNvPr id="60" name="Text 58"/>
          <p:cNvSpPr/>
          <p:nvPr/>
        </p:nvSpPr>
        <p:spPr>
          <a:xfrm>
            <a:off x="8650224" y="2542032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registry</a:t>
            </a:r>
            <a:endParaRPr lang="en-US" sz="770" dirty="0"/>
          </a:p>
        </p:txBody>
      </p:sp>
      <p:sp>
        <p:nvSpPr>
          <p:cNvPr id="61" name="Text 59"/>
          <p:cNvSpPr/>
          <p:nvPr/>
        </p:nvSpPr>
        <p:spPr>
          <a:xfrm>
            <a:off x="8650224" y="2706624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trials</a:t>
            </a:r>
            <a:endParaRPr lang="en-US" sz="770" dirty="0"/>
          </a:p>
        </p:txBody>
      </p:sp>
      <p:sp>
        <p:nvSpPr>
          <p:cNvPr id="62" name="Shape 60"/>
          <p:cNvSpPr/>
          <p:nvPr/>
        </p:nvSpPr>
        <p:spPr>
          <a:xfrm>
            <a:off x="8650224" y="2615184"/>
            <a:ext cx="1463040" cy="256032"/>
          </a:xfrm>
          <a:prstGeom prst="roundRect">
            <a:avLst>
              <a:gd name="adj" fmla="val 28571"/>
            </a:avLst>
          </a:prstGeom>
          <a:solidFill>
            <a:srgbClr val="1A2743"/>
          </a:solidFill>
          <a:ln w="12700">
            <a:solidFill>
              <a:srgbClr val="1A274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705088" y="2665476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registry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540496" y="306324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8540496" y="32552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на раннем этапе строит patient portal и worldwide registry для участия в trials и учёта статуса пациента.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540496" y="38039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Целевое действие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8540496" y="39867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 or sign up / join patient registry.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540496" y="43708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взять в CHANGEBODY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8540496" y="45537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сложных имплантов нужен личный кабинет со статусом допуска, документов и прогресса заказа.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9808" y="6053328"/>
            <a:ext cx="1092708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0120" y="6172200"/>
            <a:ext cx="10469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вывод ресерча: сильнее всего работают связка «понятный benefit → проверка подходящести → пошаговый процесс → реальная поддержка → личный кабинет после выбора».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паттерн: не e-commerce alone, а guided medical journey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беру из ресерча + собственные идеи для CHANGEBODY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должен сочетать маркетплейс, медико-технический подбор и постпокупочную поддержку.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ideas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26464"/>
            <a:ext cx="539496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7.212499731616968e+61" dist="5.409374798712724e+61" dir="2.1158324305920003e+73">
              <a:srgbClr val="000000">
                <a:alpha val="1.4999999999999997e+7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664208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714500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Идеи из ресерча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68680" y="22082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" y="2148840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вести сразу в каталог — сначала понять задачу пользователя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272034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266090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показывать eligibility / совместимость прямо в карточке товара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23240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" y="3172968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объяснять процесс установки шаг за шагом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37444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4984" y="3685032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держать под рукой клинику, специалиста или домашний визит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25653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4197096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добавлять истории и отзывы как снижение тревоги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76859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" y="4709160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покупки переключать приложение в режим поддержки и управления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1426464"/>
            <a:ext cx="539496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9.15987465915355e+65" dist="6.86990599436516e+65" dir="1.2694994583552002e+78">
              <a:srgbClr val="000000">
                <a:alpha val="1.5e+7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55664" y="1664208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0528" y="1714500"/>
            <a:ext cx="1490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Мои идеи для продукта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537960" y="22082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2148840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«крупный текст / супер-контраст / голосовое чтение» с первого запуска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537960" y="272034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4264" y="2660904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caregiver mode — родственник может помогать с подбором и оформлением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37960" y="323240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3172968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совместимость импланта и тела как отдельный прозрачный блок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37960" y="374446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84264" y="3685032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по жизненной цели: ходить без боли / видеть / дольше жить / спорт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37960" y="425653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84264" y="4197096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главная CTA на экран + постоянная кнопка «Нужна помощь»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37960" y="476859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84264" y="4709160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оплаты — статус заказа, слот установки и подготовка к адаптации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Фокус: снизить тревогу и когнитивную нагрузку при дорогом выборе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пользовательский сценарий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сценарий покрывает все обязательные страницы задания: список имплантов, карточку импланта, список тел, карточку тела и корзину.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scenario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10972800" cy="448056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1633040817125008e+70" dist="8.724780612843754e+69" dir="7.616996750131201e+82">
              <a:srgbClr val="000000">
                <a:alpha val="1.4999999999999998e+8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1874520"/>
            <a:ext cx="2304288" cy="1298448"/>
          </a:xfrm>
          <a:prstGeom prst="roundRect">
            <a:avLst>
              <a:gd name="adj" fmla="val 9859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02536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0528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24128" y="233172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 приложение и выбирает «Подбор за 3 шага»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108960" y="2377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02736" y="1874520"/>
            <a:ext cx="2304288" cy="1298448"/>
          </a:xfrm>
          <a:prstGeom prst="roundRect">
            <a:avLst>
              <a:gd name="adj" fmla="val 9859"/>
            </a:avLst>
          </a:prstGeom>
          <a:solidFill>
            <a:srgbClr val="F8FAFC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30752" y="2002536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20528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730752" y="233172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Проходит короткую диагностику потребности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815584" y="2377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1874520"/>
            <a:ext cx="2304288" cy="1298448"/>
          </a:xfrm>
          <a:prstGeom prst="roundRect">
            <a:avLst>
              <a:gd name="adj" fmla="val 9859"/>
            </a:avLst>
          </a:prstGeom>
          <a:solidFill>
            <a:srgbClr val="F8FAFC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7376" y="2002536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0528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37376" y="233172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Попадает в каталог имплантов уже с преднастроенными фильтрами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8522208" y="2377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15984" y="1874520"/>
            <a:ext cx="2304288" cy="1298448"/>
          </a:xfrm>
          <a:prstGeom prst="roundRect">
            <a:avLst>
              <a:gd name="adj" fmla="val 9859"/>
            </a:avLst>
          </a:prstGeom>
          <a:solidFill>
            <a:srgbClr val="F8FAFC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2002536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98864" y="205282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144000" y="2331720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 карточку импланта и добавляет подходящую модель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11228832" y="23774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96112" y="3584448"/>
            <a:ext cx="2304288" cy="1298448"/>
          </a:xfrm>
          <a:prstGeom prst="roundRect">
            <a:avLst>
              <a:gd name="adj" fmla="val 9859"/>
            </a:avLst>
          </a:prstGeom>
          <a:solidFill>
            <a:srgbClr val="F8FAFC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371246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376275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4128" y="404164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Переходит в каталог тел и выбирает совместимый носитель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3108960" y="40873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3602736" y="3584448"/>
            <a:ext cx="2304288" cy="1298448"/>
          </a:xfrm>
          <a:prstGeom prst="roundRect">
            <a:avLst>
              <a:gd name="adj" fmla="val 9859"/>
            </a:avLst>
          </a:prstGeom>
          <a:solidFill>
            <a:srgbClr val="F8FAFC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30752" y="371246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376275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730752" y="404164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Открывает карточку тела, проверяет характеристики и добавляет его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815584" y="40873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309360" y="3584448"/>
            <a:ext cx="2304288" cy="1298448"/>
          </a:xfrm>
          <a:prstGeom prst="roundRect">
            <a:avLst>
              <a:gd name="adj" fmla="val 9859"/>
            </a:avLst>
          </a:prstGeom>
          <a:solidFill>
            <a:srgbClr val="F8FAFC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37376" y="371246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76275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37376" y="404164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корзине выбирает клинику / домашнюю установку и слот консультации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8522208" y="40873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015984" y="3584448"/>
            <a:ext cx="2304288" cy="1298448"/>
          </a:xfrm>
          <a:prstGeom prst="roundRect">
            <a:avLst>
              <a:gd name="adj" fmla="val 9859"/>
            </a:avLst>
          </a:prstGeom>
          <a:solidFill>
            <a:srgbClr val="F8FAFC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0" y="371246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98864" y="376275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8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144000" y="404164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Подтверждает заказ и получает статус следующего шага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Альтернативный путь существует: из карточки импланта можно идти в корзину без выбора тела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экранов / информационная архитектура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нужен как контроль покрытия сценария и как заготовка для сборки макетов в Figma.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IA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463040"/>
            <a:ext cx="3703320" cy="48920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477396183774876e+74" dist="1.1080471378311567e+74" dir="4.57019805007872e+87">
              <a:srgbClr val="000000">
                <a:alpha val="1.4999999999999998e+8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9536" y="1700784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51076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экраны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86968" y="22082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214884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Home / главная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886968" y="264718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258775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Подбор за 3 шага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886968" y="308610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026664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Каталог имплантов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86968" y="35250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46557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Карточка импланта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886968" y="396392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904488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Каталог тел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86968" y="440283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343400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Карточка тела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86968" y="484174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3272" y="4782312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Корзина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886968" y="52806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33272" y="5221224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Оформление заказа / установка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886968" y="571957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3272" y="5660136"/>
            <a:ext cx="29169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Подтверждение заказа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4553712" y="1463040"/>
            <a:ext cx="3291840" cy="48920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8762931533940924e+78" dist="1.407219865045569e+78" dir="2.742118830047232e+92">
              <a:srgbClr val="000000">
                <a:alpha val="1.4999999999999998e+9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1700784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751076"/>
            <a:ext cx="1033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Поддерживающие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28032" y="22082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74336" y="2148840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sheet фильтров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4828032" y="272034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2660904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сортировка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4828032" y="323240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31729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консультации</a:t>
            </a:r>
            <a:endParaRPr lang="en-US" sz="1130" dirty="0"/>
          </a:p>
        </p:txBody>
      </p:sp>
      <p:sp>
        <p:nvSpPr>
          <p:cNvPr id="37" name="Shape 35"/>
          <p:cNvSpPr/>
          <p:nvPr/>
        </p:nvSpPr>
        <p:spPr>
          <a:xfrm>
            <a:off x="4828032" y="374446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74336" y="368503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/ звонок специалисту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4828032" y="425653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74336" y="419709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и статус заказа</a:t>
            </a:r>
            <a:endParaRPr lang="en-US" sz="1130" dirty="0"/>
          </a:p>
        </p:txBody>
      </p:sp>
      <p:sp>
        <p:nvSpPr>
          <p:cNvPr id="41" name="Shape 39"/>
          <p:cNvSpPr/>
          <p:nvPr/>
        </p:nvSpPr>
        <p:spPr>
          <a:xfrm>
            <a:off x="8065008" y="1463040"/>
            <a:ext cx="3566160" cy="4892040"/>
          </a:xfrm>
          <a:prstGeom prst="roundRect">
            <a:avLst>
              <a:gd name="adj" fmla="val 307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2.3828923048104974e+82" dist="1.7871692286078725e+82" dir="1.6452712980283393e+97">
              <a:srgbClr val="000000">
                <a:alpha val="1.4999999999999998e+99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321040" y="17556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navigation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302752" y="2176272"/>
            <a:ext cx="2157984" cy="420624"/>
          </a:xfrm>
          <a:prstGeom prst="roundRect">
            <a:avLst>
              <a:gd name="adj" fmla="val 21739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231343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1080" dirty="0"/>
          </a:p>
        </p:txBody>
      </p:sp>
      <p:sp>
        <p:nvSpPr>
          <p:cNvPr id="45" name="Shape 43"/>
          <p:cNvSpPr/>
          <p:nvPr/>
        </p:nvSpPr>
        <p:spPr>
          <a:xfrm>
            <a:off x="8302752" y="2834640"/>
            <a:ext cx="2157984" cy="420624"/>
          </a:xfrm>
          <a:prstGeom prst="roundRect">
            <a:avLst>
              <a:gd name="adj" fmla="val 21739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0" y="297180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8302752" y="3493008"/>
            <a:ext cx="2157984" cy="420624"/>
          </a:xfrm>
          <a:prstGeom prst="roundRect">
            <a:avLst>
              <a:gd name="adj" fmla="val 21739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03920" y="3630168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8302752" y="4151376"/>
            <a:ext cx="2157984" cy="420624"/>
          </a:xfrm>
          <a:prstGeom prst="roundRect">
            <a:avLst>
              <a:gd name="adj" fmla="val 21739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0" y="4288536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8302752" y="508406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так: для пожилой аудитории нижняя навигация упрощает возврат в понятные разделы без поиска в меню.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Покрытие сценария: все обязательные страницы включены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Мета-прототипы (low-fi)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фиксирую только логику блоков: без визуальных сущностей, чтобы быстро проверить полноту экранов.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low-fi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508760"/>
            <a:ext cx="1993392" cy="214884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3.0262732271093317e+86" dist="2.269704920331998e+86" dir="9.871627788170037e+101">
              <a:srgbClr val="000000">
                <a:alpha val="1.5e+10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71016" y="15819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733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353312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2148840" y="16733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850392" y="177393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50392" y="2029968"/>
            <a:ext cx="1664208" cy="347472"/>
          </a:xfrm>
          <a:prstGeom prst="roundRect">
            <a:avLst>
              <a:gd name="adj" fmla="val 31579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" y="2450592"/>
            <a:ext cx="1664208" cy="603504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" y="3127248"/>
            <a:ext cx="786384" cy="640080"/>
          </a:xfrm>
          <a:prstGeom prst="roundRect">
            <a:avLst>
              <a:gd name="adj" fmla="val 17143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28216" y="3127248"/>
            <a:ext cx="786384" cy="640080"/>
          </a:xfrm>
          <a:prstGeom prst="roundRect">
            <a:avLst>
              <a:gd name="adj" fmla="val 17143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3840480"/>
            <a:ext cx="1664208" cy="868680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" y="3035808"/>
            <a:ext cx="1664208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3081528"/>
            <a:ext cx="324612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1321308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1682496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2043684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3557016" y="1508760"/>
            <a:ext cx="1993392" cy="214884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3.8433669984288512e+90" dist="2.8825252488216374e+90" dir="5.9229766729020215e+106">
              <a:srgbClr val="000000">
                <a:alpha val="1.4999999999999999e+10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42232" y="15819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16733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224528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5020056" y="16733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3721608" y="177393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721608" y="2039112"/>
            <a:ext cx="1664208" cy="41148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1608" y="2542032"/>
            <a:ext cx="1664208" cy="43891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1608" y="3072384"/>
            <a:ext cx="1664208" cy="43891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721608" y="3602736"/>
            <a:ext cx="1664208" cy="43891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1608" y="4242816"/>
            <a:ext cx="1664208" cy="384048"/>
          </a:xfrm>
          <a:prstGeom prst="roundRect">
            <a:avLst>
              <a:gd name="adj" fmla="val 28571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1608" y="3035808"/>
            <a:ext cx="1664208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31336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4192524" y="3081528"/>
            <a:ext cx="324612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92524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4553712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4914900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6428232" y="1508760"/>
            <a:ext cx="1993392" cy="214884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4.8810760880046414e+94" dist="3.6608070660034796e+94" dir="3.553786003741213e+111">
              <a:srgbClr val="000000">
                <a:alpha val="1.4999999999999997e+114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013448" y="15819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92824" y="16733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095744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7891272" y="16733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6592824" y="177393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92824" y="2020824"/>
            <a:ext cx="1664208" cy="310896"/>
          </a:xfrm>
          <a:prstGeom prst="roundRect">
            <a:avLst>
              <a:gd name="adj" fmla="val 35294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92824" y="2441448"/>
            <a:ext cx="1664208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684264" y="2532888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92824" y="3200400"/>
            <a:ext cx="1664208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84264" y="3291840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92824" y="3959352"/>
            <a:ext cx="1664208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84264" y="4050792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92824" y="3035808"/>
            <a:ext cx="1664208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02552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7063740" y="3081528"/>
            <a:ext cx="324612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63740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58" name="Text 56"/>
          <p:cNvSpPr/>
          <p:nvPr/>
        </p:nvSpPr>
        <p:spPr>
          <a:xfrm>
            <a:off x="7424928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59" name="Text 57"/>
          <p:cNvSpPr/>
          <p:nvPr/>
        </p:nvSpPr>
        <p:spPr>
          <a:xfrm>
            <a:off x="7786116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9299448" y="1508760"/>
            <a:ext cx="1993392" cy="214884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6.198966631765894e+98" dist="4.649224973824419e+98" dir="2.1322716022447277e+116">
              <a:srgbClr val="000000">
                <a:alpha val="1.4999999999999998e+119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884664" y="15819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64040" y="16733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9966960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10762488" y="16733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65" name="Text 63"/>
          <p:cNvSpPr/>
          <p:nvPr/>
        </p:nvSpPr>
        <p:spPr>
          <a:xfrm>
            <a:off x="9464040" y="177393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9464040" y="2039112"/>
            <a:ext cx="1664208" cy="868680"/>
          </a:xfrm>
          <a:prstGeom prst="roundRect">
            <a:avLst>
              <a:gd name="adj" fmla="val 1263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64040" y="2999232"/>
            <a:ext cx="1664208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464040" y="3575304"/>
            <a:ext cx="1664208" cy="713232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464040" y="4398264"/>
            <a:ext cx="1664208" cy="347472"/>
          </a:xfrm>
          <a:prstGeom prst="roundRect">
            <a:avLst>
              <a:gd name="adj" fmla="val 31579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464040" y="3035808"/>
            <a:ext cx="1664208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573768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72" name="Shape 70"/>
          <p:cNvSpPr/>
          <p:nvPr/>
        </p:nvSpPr>
        <p:spPr>
          <a:xfrm>
            <a:off x="9934956" y="3081528"/>
            <a:ext cx="324612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34956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74" name="Text 72"/>
          <p:cNvSpPr/>
          <p:nvPr/>
        </p:nvSpPr>
        <p:spPr>
          <a:xfrm>
            <a:off x="10296144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75" name="Text 73"/>
          <p:cNvSpPr/>
          <p:nvPr/>
        </p:nvSpPr>
        <p:spPr>
          <a:xfrm>
            <a:off x="10657332" y="314553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76" name="Shape 74"/>
          <p:cNvSpPr/>
          <p:nvPr/>
        </p:nvSpPr>
        <p:spPr>
          <a:xfrm>
            <a:off x="685800" y="3886200"/>
            <a:ext cx="1993392" cy="214884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7.872687622342685e+102" dist="5.904515716757012e+102" dir="1.2793629613468366e+121">
              <a:srgbClr val="000000">
                <a:alpha val="1.4999999999999997e+124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1271016" y="395935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0392" y="4050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1353312" y="40507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2148840" y="40507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81" name="Text 79"/>
          <p:cNvSpPr/>
          <p:nvPr/>
        </p:nvSpPr>
        <p:spPr>
          <a:xfrm>
            <a:off x="850392" y="41513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50392" y="4398264"/>
            <a:ext cx="1664208" cy="310896"/>
          </a:xfrm>
          <a:prstGeom prst="roundRect">
            <a:avLst>
              <a:gd name="adj" fmla="val 35294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50392" y="4818888"/>
            <a:ext cx="1664208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1832" y="4910328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0392" y="5577840"/>
            <a:ext cx="1664208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41832" y="5669280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50392" y="6336792"/>
            <a:ext cx="1664208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832" y="6428232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50392" y="5413248"/>
            <a:ext cx="1664208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60120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91" name="Text 89"/>
          <p:cNvSpPr/>
          <p:nvPr/>
        </p:nvSpPr>
        <p:spPr>
          <a:xfrm>
            <a:off x="1321308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92" name="Shape 90"/>
          <p:cNvSpPr/>
          <p:nvPr/>
        </p:nvSpPr>
        <p:spPr>
          <a:xfrm>
            <a:off x="1682496" y="5458968"/>
            <a:ext cx="324612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682496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94" name="Text 92"/>
          <p:cNvSpPr/>
          <p:nvPr/>
        </p:nvSpPr>
        <p:spPr>
          <a:xfrm>
            <a:off x="2043684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95" name="Shape 93"/>
          <p:cNvSpPr/>
          <p:nvPr/>
        </p:nvSpPr>
        <p:spPr>
          <a:xfrm>
            <a:off x="3557016" y="3886200"/>
            <a:ext cx="1993392" cy="214884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9.998313280375211e+106" dist="7.498734960281406e+106" dir="7.67617776808102e+125">
              <a:srgbClr val="000000">
                <a:alpha val="1.4999999999999998e+129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4142232" y="395935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721608" y="4050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4224528" y="40507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99" name="Text 97"/>
          <p:cNvSpPr/>
          <p:nvPr/>
        </p:nvSpPr>
        <p:spPr>
          <a:xfrm>
            <a:off x="5020056" y="40507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00" name="Text 98"/>
          <p:cNvSpPr/>
          <p:nvPr/>
        </p:nvSpPr>
        <p:spPr>
          <a:xfrm>
            <a:off x="3721608" y="41513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3721608" y="4416552"/>
            <a:ext cx="1664208" cy="868680"/>
          </a:xfrm>
          <a:prstGeom prst="roundRect">
            <a:avLst>
              <a:gd name="adj" fmla="val 1263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21608" y="5376672"/>
            <a:ext cx="1664208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721608" y="5952744"/>
            <a:ext cx="1664208" cy="713232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21608" y="6775704"/>
            <a:ext cx="1664208" cy="347472"/>
          </a:xfrm>
          <a:prstGeom prst="roundRect">
            <a:avLst>
              <a:gd name="adj" fmla="val 31579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721608" y="5413248"/>
            <a:ext cx="1664208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31336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107" name="Shape 105"/>
          <p:cNvSpPr/>
          <p:nvPr/>
        </p:nvSpPr>
        <p:spPr>
          <a:xfrm>
            <a:off x="4192524" y="5458968"/>
            <a:ext cx="324612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192524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109" name="Text 107"/>
          <p:cNvSpPr/>
          <p:nvPr/>
        </p:nvSpPr>
        <p:spPr>
          <a:xfrm>
            <a:off x="4553712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110" name="Text 108"/>
          <p:cNvSpPr/>
          <p:nvPr/>
        </p:nvSpPr>
        <p:spPr>
          <a:xfrm>
            <a:off x="4914900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111" name="Shape 109"/>
          <p:cNvSpPr/>
          <p:nvPr/>
        </p:nvSpPr>
        <p:spPr>
          <a:xfrm>
            <a:off x="6428232" y="3886200"/>
            <a:ext cx="1993392" cy="214884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1.2697857866076517e+111" dist="9.523393399557385e+110" dir="4.605706660848612e+130">
              <a:srgbClr val="000000">
                <a:alpha val="1.4999999999999998e+134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7013448" y="395935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592824" y="4050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7095744" y="40507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5" name="Text 113"/>
          <p:cNvSpPr/>
          <p:nvPr/>
        </p:nvSpPr>
        <p:spPr>
          <a:xfrm>
            <a:off x="7891272" y="40507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16" name="Text 114"/>
          <p:cNvSpPr/>
          <p:nvPr/>
        </p:nvSpPr>
        <p:spPr>
          <a:xfrm>
            <a:off x="6592824" y="41513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592824" y="4425696"/>
            <a:ext cx="1664208" cy="603504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592824" y="5120640"/>
            <a:ext cx="1664208" cy="603504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592824" y="5861304"/>
            <a:ext cx="1664208" cy="512064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592824" y="6473952"/>
            <a:ext cx="1664208" cy="365760"/>
          </a:xfrm>
          <a:prstGeom prst="roundRect">
            <a:avLst>
              <a:gd name="adj" fmla="val 30000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592824" y="5413248"/>
            <a:ext cx="1664208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702552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123" name="Text 121"/>
          <p:cNvSpPr/>
          <p:nvPr/>
        </p:nvSpPr>
        <p:spPr>
          <a:xfrm>
            <a:off x="7063740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124" name="Text 122"/>
          <p:cNvSpPr/>
          <p:nvPr/>
        </p:nvSpPr>
        <p:spPr>
          <a:xfrm>
            <a:off x="7424928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125" name="Shape 123"/>
          <p:cNvSpPr/>
          <p:nvPr/>
        </p:nvSpPr>
        <p:spPr>
          <a:xfrm>
            <a:off x="7786116" y="5458968"/>
            <a:ext cx="324612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786116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127" name="Shape 125"/>
          <p:cNvSpPr/>
          <p:nvPr/>
        </p:nvSpPr>
        <p:spPr>
          <a:xfrm>
            <a:off x="9299448" y="3886200"/>
            <a:ext cx="1993392" cy="2148840"/>
          </a:xfrm>
          <a:prstGeom prst="roundRect">
            <a:avLst>
              <a:gd name="adj" fmla="val 10092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1.6126279489917177e+115" dist="1.209470961743788e+115" dir="2.763423996509167e+135">
              <a:srgbClr val="000000">
                <a:alpha val="1.4999999999999997e+139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9884664" y="395935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9464040" y="40507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9966960" y="40507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31" name="Text 129"/>
          <p:cNvSpPr/>
          <p:nvPr/>
        </p:nvSpPr>
        <p:spPr>
          <a:xfrm>
            <a:off x="10762488" y="40507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9464040" y="41513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9464040" y="4425696"/>
            <a:ext cx="1664208" cy="603504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464040" y="5120640"/>
            <a:ext cx="1664208" cy="603504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464040" y="5861304"/>
            <a:ext cx="1664208" cy="512064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464040" y="6473952"/>
            <a:ext cx="1664208" cy="365760"/>
          </a:xfrm>
          <a:prstGeom prst="roundRect">
            <a:avLst>
              <a:gd name="adj" fmla="val 30000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464040" y="5413248"/>
            <a:ext cx="1664208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573768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139" name="Text 137"/>
          <p:cNvSpPr/>
          <p:nvPr/>
        </p:nvSpPr>
        <p:spPr>
          <a:xfrm>
            <a:off x="9934956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140" name="Text 138"/>
          <p:cNvSpPr/>
          <p:nvPr/>
        </p:nvSpPr>
        <p:spPr>
          <a:xfrm>
            <a:off x="10296144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141" name="Shape 139"/>
          <p:cNvSpPr/>
          <p:nvPr/>
        </p:nvSpPr>
        <p:spPr>
          <a:xfrm>
            <a:off x="10657332" y="5458968"/>
            <a:ext cx="324612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0657332" y="5522976"/>
            <a:ext cx="3246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143" name="Text 141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Low-fi проверяет состав экранов до визуальной детализации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 из мета-прототипов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Проверяю, куда именно нажимает пользователь и хватает ли экранов для достижения цели.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low-fi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1417320" cy="1755648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2.0480374952194813e+119" dist="1.5360281214146108e+119" dir="1.6580543979055002e+140">
              <a:srgbClr val="000000">
                <a:alpha val="1.4999999999999998e+14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1540" y="18105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901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61872" y="1901952"/>
            <a:ext cx="82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1481328" y="1901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758952" y="20025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58952" y="2258568"/>
            <a:ext cx="1088136" cy="347472"/>
          </a:xfrm>
          <a:prstGeom prst="roundRect">
            <a:avLst>
              <a:gd name="adj" fmla="val 31579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2679192"/>
            <a:ext cx="1088136" cy="603504"/>
          </a:xfrm>
          <a:prstGeom prst="roundRect">
            <a:avLst>
              <a:gd name="adj" fmla="val 18182"/>
            </a:avLst>
          </a:prstGeom>
          <a:solidFill>
            <a:srgbClr val="E2E8F0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355848"/>
            <a:ext cx="498348" cy="640080"/>
          </a:xfrm>
          <a:prstGeom prst="roundRect">
            <a:avLst>
              <a:gd name="adj" fmla="val 22018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8740" y="3355848"/>
            <a:ext cx="498348" cy="640080"/>
          </a:xfrm>
          <a:prstGeom prst="roundRect">
            <a:avLst>
              <a:gd name="adj" fmla="val 22018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4069080"/>
            <a:ext cx="1088136" cy="868680"/>
          </a:xfrm>
          <a:prstGeom prst="roundRect">
            <a:avLst>
              <a:gd name="adj" fmla="val 1263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" y="2871216"/>
            <a:ext cx="10881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2916936"/>
            <a:ext cx="180594" cy="310896"/>
          </a:xfrm>
          <a:prstGeom prst="roundRect">
            <a:avLst>
              <a:gd name="adj" fmla="val 40506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108585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130302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152019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2331720" y="1737360"/>
            <a:ext cx="1417320" cy="1755648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2.6010076189287412e+123" dist="1.9507557141965558e+123" dir="9.948326387433002e+144">
              <a:srgbClr val="000000">
                <a:alpha val="1.4999999999999998e+14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28900" y="18105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1901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999232" y="1901952"/>
            <a:ext cx="82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3218688" y="1901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496312" y="20025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496312" y="2267712"/>
            <a:ext cx="1088136" cy="411480"/>
          </a:xfrm>
          <a:prstGeom prst="roundRect">
            <a:avLst>
              <a:gd name="adj" fmla="val 26667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96312" y="2770632"/>
            <a:ext cx="1088136" cy="43891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96312" y="3300984"/>
            <a:ext cx="1088136" cy="43891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96312" y="3831336"/>
            <a:ext cx="1088136" cy="438912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96312" y="4471416"/>
            <a:ext cx="1088136" cy="384048"/>
          </a:xfrm>
          <a:prstGeom prst="roundRect">
            <a:avLst>
              <a:gd name="adj" fmla="val 28571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96312" y="2871216"/>
            <a:ext cx="10881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2823210" y="2916936"/>
            <a:ext cx="180594" cy="310896"/>
          </a:xfrm>
          <a:prstGeom prst="roundRect">
            <a:avLst>
              <a:gd name="adj" fmla="val 40506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2321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39" name="Text 37"/>
          <p:cNvSpPr/>
          <p:nvPr/>
        </p:nvSpPr>
        <p:spPr>
          <a:xfrm>
            <a:off x="304038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40" name="Text 38"/>
          <p:cNvSpPr/>
          <p:nvPr/>
        </p:nvSpPr>
        <p:spPr>
          <a:xfrm>
            <a:off x="325755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41" name="Shape 39"/>
          <p:cNvSpPr/>
          <p:nvPr/>
        </p:nvSpPr>
        <p:spPr>
          <a:xfrm>
            <a:off x="4069080" y="1737360"/>
            <a:ext cx="1417320" cy="1755648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3.303279676039501e+127" dist="2.4774597570296257e+127" dir="5.968995832459801e+149">
              <a:srgbClr val="000000">
                <a:alpha val="1.4999999999999998e+154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66260" y="18105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33672" y="1901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36592" y="1901952"/>
            <a:ext cx="82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4956048" y="1901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4233672" y="20025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233672" y="2249424"/>
            <a:ext cx="1088136" cy="310896"/>
          </a:xfrm>
          <a:prstGeom prst="roundRect">
            <a:avLst>
              <a:gd name="adj" fmla="val 35294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33672" y="2670048"/>
            <a:ext cx="1088136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25112" y="2761488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33672" y="3429000"/>
            <a:ext cx="1088136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25112" y="3520440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33672" y="4187952"/>
            <a:ext cx="1088136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325112" y="4279392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33672" y="2871216"/>
            <a:ext cx="10881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4340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4560570" y="2916936"/>
            <a:ext cx="180594" cy="310896"/>
          </a:xfrm>
          <a:prstGeom prst="roundRect">
            <a:avLst>
              <a:gd name="adj" fmla="val 40506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6057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58" name="Text 56"/>
          <p:cNvSpPr/>
          <p:nvPr/>
        </p:nvSpPr>
        <p:spPr>
          <a:xfrm>
            <a:off x="477774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59" name="Text 57"/>
          <p:cNvSpPr/>
          <p:nvPr/>
        </p:nvSpPr>
        <p:spPr>
          <a:xfrm>
            <a:off x="499491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5806440" y="1737360"/>
            <a:ext cx="1417320" cy="1755648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4.195165188570166e+131" dist="3.1463738914276248e+131" dir="3.581397499475881e+154">
              <a:srgbClr val="000000">
                <a:alpha val="1.4999999999999999e+159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03620" y="18105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71032" y="1901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473952" y="1901952"/>
            <a:ext cx="82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6693408" y="1901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65" name="Text 63"/>
          <p:cNvSpPr/>
          <p:nvPr/>
        </p:nvSpPr>
        <p:spPr>
          <a:xfrm>
            <a:off x="5971032" y="20025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971032" y="2267712"/>
            <a:ext cx="1088136" cy="868680"/>
          </a:xfrm>
          <a:prstGeom prst="roundRect">
            <a:avLst>
              <a:gd name="adj" fmla="val 1263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971032" y="3227832"/>
            <a:ext cx="1088136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971032" y="3803904"/>
            <a:ext cx="1088136" cy="713232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71032" y="4626864"/>
            <a:ext cx="1088136" cy="347472"/>
          </a:xfrm>
          <a:prstGeom prst="roundRect">
            <a:avLst>
              <a:gd name="adj" fmla="val 31579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71032" y="2871216"/>
            <a:ext cx="10881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8076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72" name="Shape 70"/>
          <p:cNvSpPr/>
          <p:nvPr/>
        </p:nvSpPr>
        <p:spPr>
          <a:xfrm>
            <a:off x="6297930" y="2916936"/>
            <a:ext cx="180594" cy="310896"/>
          </a:xfrm>
          <a:prstGeom prst="roundRect">
            <a:avLst>
              <a:gd name="adj" fmla="val 40506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9793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74" name="Text 72"/>
          <p:cNvSpPr/>
          <p:nvPr/>
        </p:nvSpPr>
        <p:spPr>
          <a:xfrm>
            <a:off x="651510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75" name="Text 73"/>
          <p:cNvSpPr/>
          <p:nvPr/>
        </p:nvSpPr>
        <p:spPr>
          <a:xfrm>
            <a:off x="673227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76" name="Shape 74"/>
          <p:cNvSpPr/>
          <p:nvPr/>
        </p:nvSpPr>
        <p:spPr>
          <a:xfrm>
            <a:off x="7543800" y="1737360"/>
            <a:ext cx="1417320" cy="1755648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5.327859789484111e+135" dist="3.9958948421130834e+135" dir="2.1488384996855287e+159">
              <a:srgbClr val="000000">
                <a:alpha val="1.5e+164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7840980" y="18105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708392" y="1901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8211312" y="1901952"/>
            <a:ext cx="82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8430768" y="1901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81" name="Text 79"/>
          <p:cNvSpPr/>
          <p:nvPr/>
        </p:nvSpPr>
        <p:spPr>
          <a:xfrm>
            <a:off x="7708392" y="20025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708392" y="2249424"/>
            <a:ext cx="1088136" cy="310896"/>
          </a:xfrm>
          <a:prstGeom prst="roundRect">
            <a:avLst>
              <a:gd name="adj" fmla="val 35294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08392" y="2670048"/>
            <a:ext cx="1088136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799832" y="2761488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08392" y="3429000"/>
            <a:ext cx="1088136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99832" y="3520440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708392" y="4187952"/>
            <a:ext cx="1088136" cy="676656"/>
          </a:xfrm>
          <a:prstGeom prst="roundRect">
            <a:avLst>
              <a:gd name="adj" fmla="val 16216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99832" y="4279392"/>
            <a:ext cx="566928" cy="493776"/>
          </a:xfrm>
          <a:prstGeom prst="roundRect">
            <a:avLst>
              <a:gd name="adj" fmla="val 2222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708392" y="2871216"/>
            <a:ext cx="10881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1812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91" name="Text 89"/>
          <p:cNvSpPr/>
          <p:nvPr/>
        </p:nvSpPr>
        <p:spPr>
          <a:xfrm>
            <a:off x="803529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92" name="Shape 90"/>
          <p:cNvSpPr/>
          <p:nvPr/>
        </p:nvSpPr>
        <p:spPr>
          <a:xfrm>
            <a:off x="8252460" y="2916936"/>
            <a:ext cx="180594" cy="310896"/>
          </a:xfrm>
          <a:prstGeom prst="roundRect">
            <a:avLst>
              <a:gd name="adj" fmla="val 40506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25246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94" name="Text 92"/>
          <p:cNvSpPr/>
          <p:nvPr/>
        </p:nvSpPr>
        <p:spPr>
          <a:xfrm>
            <a:off x="846963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95" name="Shape 93"/>
          <p:cNvSpPr/>
          <p:nvPr/>
        </p:nvSpPr>
        <p:spPr>
          <a:xfrm>
            <a:off x="9281160" y="1737360"/>
            <a:ext cx="1417320" cy="1755648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6.766381932644821e+139" dist="5.074786449483616e+139" dir="1.2893030998113172e+164">
              <a:srgbClr val="000000">
                <a:alpha val="1.5e+169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9578340" y="181051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445752" y="190195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9948672" y="1901952"/>
            <a:ext cx="82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99" name="Text 97"/>
          <p:cNvSpPr/>
          <p:nvPr/>
        </p:nvSpPr>
        <p:spPr>
          <a:xfrm>
            <a:off x="10168128" y="190195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00" name="Text 98"/>
          <p:cNvSpPr/>
          <p:nvPr/>
        </p:nvSpPr>
        <p:spPr>
          <a:xfrm>
            <a:off x="9445752" y="200253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445752" y="2267712"/>
            <a:ext cx="1088136" cy="868680"/>
          </a:xfrm>
          <a:prstGeom prst="roundRect">
            <a:avLst>
              <a:gd name="adj" fmla="val 12632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45752" y="3227832"/>
            <a:ext cx="1088136" cy="475488"/>
          </a:xfrm>
          <a:prstGeom prst="roundRect">
            <a:avLst>
              <a:gd name="adj" fmla="val 23077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45752" y="3803904"/>
            <a:ext cx="1088136" cy="713232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45752" y="4626864"/>
            <a:ext cx="1088136" cy="347472"/>
          </a:xfrm>
          <a:prstGeom prst="roundRect">
            <a:avLst>
              <a:gd name="adj" fmla="val 31579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45752" y="2871216"/>
            <a:ext cx="10881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55548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107" name="Shape 105"/>
          <p:cNvSpPr/>
          <p:nvPr/>
        </p:nvSpPr>
        <p:spPr>
          <a:xfrm>
            <a:off x="9772650" y="2916936"/>
            <a:ext cx="180594" cy="310896"/>
          </a:xfrm>
          <a:prstGeom prst="roundRect">
            <a:avLst>
              <a:gd name="adj" fmla="val 40506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77265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109" name="Text 107"/>
          <p:cNvSpPr/>
          <p:nvPr/>
        </p:nvSpPr>
        <p:spPr>
          <a:xfrm>
            <a:off x="998982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110" name="Text 108"/>
          <p:cNvSpPr/>
          <p:nvPr/>
        </p:nvSpPr>
        <p:spPr>
          <a:xfrm>
            <a:off x="10206990" y="298094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111" name="Shape 109"/>
          <p:cNvSpPr/>
          <p:nvPr/>
        </p:nvSpPr>
        <p:spPr>
          <a:xfrm>
            <a:off x="3200400" y="4114800"/>
            <a:ext cx="1417320" cy="1755648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8.593305054458923e+143" dist="6.444978790844192e+143" dir="7.735818598867904e+168">
              <a:srgbClr val="000000">
                <a:alpha val="1.5e+174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3497580" y="418795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364992" y="4279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14" name="Text 112"/>
          <p:cNvSpPr/>
          <p:nvPr/>
        </p:nvSpPr>
        <p:spPr>
          <a:xfrm>
            <a:off x="3867912" y="4279392"/>
            <a:ext cx="82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5" name="Text 113"/>
          <p:cNvSpPr/>
          <p:nvPr/>
        </p:nvSpPr>
        <p:spPr>
          <a:xfrm>
            <a:off x="4087368" y="4279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16" name="Text 114"/>
          <p:cNvSpPr/>
          <p:nvPr/>
        </p:nvSpPr>
        <p:spPr>
          <a:xfrm>
            <a:off x="3364992" y="437997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3364992" y="4654296"/>
            <a:ext cx="1088136" cy="603504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364992" y="5349240"/>
            <a:ext cx="1088136" cy="603504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64992" y="6089904"/>
            <a:ext cx="1088136" cy="512064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364992" y="6702552"/>
            <a:ext cx="1088136" cy="365760"/>
          </a:xfrm>
          <a:prstGeom prst="roundRect">
            <a:avLst>
              <a:gd name="adj" fmla="val 30000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364992" y="5248656"/>
            <a:ext cx="10881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474720" y="535838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123" name="Text 121"/>
          <p:cNvSpPr/>
          <p:nvPr/>
        </p:nvSpPr>
        <p:spPr>
          <a:xfrm>
            <a:off x="3691890" y="535838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124" name="Text 122"/>
          <p:cNvSpPr/>
          <p:nvPr/>
        </p:nvSpPr>
        <p:spPr>
          <a:xfrm>
            <a:off x="3909060" y="535838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125" name="Shape 123"/>
          <p:cNvSpPr/>
          <p:nvPr/>
        </p:nvSpPr>
        <p:spPr>
          <a:xfrm>
            <a:off x="4126230" y="5294376"/>
            <a:ext cx="180594" cy="310896"/>
          </a:xfrm>
          <a:prstGeom prst="roundRect">
            <a:avLst>
              <a:gd name="adj" fmla="val 40506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126230" y="535838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127" name="Shape 125"/>
          <p:cNvSpPr/>
          <p:nvPr/>
        </p:nvSpPr>
        <p:spPr>
          <a:xfrm>
            <a:off x="6492240" y="4114800"/>
            <a:ext cx="1417320" cy="1755648"/>
          </a:xfrm>
          <a:prstGeom prst="roundRect">
            <a:avLst>
              <a:gd name="adj" fmla="val 14194"/>
            </a:avLst>
          </a:prstGeom>
          <a:solidFill>
            <a:srgbClr val="FFFFFF"/>
          </a:solidFill>
          <a:ln w="12700">
            <a:solidFill>
              <a:srgbClr val="CED6E5"/>
            </a:solidFill>
            <a:prstDash val="solid"/>
          </a:ln>
          <a:effectLst>
            <a:outerShdw sx="100000" sy="100000" kx="0" ky="0" algn="bl" rotWithShape="0" blurRad="1.0913497419162833e+148" dist="8.185123064372124e+147" dir="4.6414911593207425e+173">
              <a:srgbClr val="000000">
                <a:alpha val="1.5e+179"/>
              </a:srgbClr>
            </a:outerShdw>
          </a:effectLst>
        </p:spPr>
      </p:sp>
      <p:sp>
        <p:nvSpPr>
          <p:cNvPr id="128" name="Shape 126"/>
          <p:cNvSpPr/>
          <p:nvPr/>
        </p:nvSpPr>
        <p:spPr>
          <a:xfrm>
            <a:off x="6789420" y="4187952"/>
            <a:ext cx="822960" cy="91440"/>
          </a:xfrm>
          <a:prstGeom prst="roundRect">
            <a:avLst>
              <a:gd name="adj" fmla="val 50000"/>
            </a:avLst>
          </a:prstGeom>
          <a:solidFill>
            <a:srgbClr val="D7DDEA"/>
          </a:solidFill>
          <a:ln w="12700">
            <a:solidFill>
              <a:srgbClr val="D7DDEA">
                <a:alpha val="0"/>
              </a:srgbClr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6656832" y="4279392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7159752" y="4279392"/>
            <a:ext cx="82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31" name="Text 129"/>
          <p:cNvSpPr/>
          <p:nvPr/>
        </p:nvSpPr>
        <p:spPr>
          <a:xfrm>
            <a:off x="7379208" y="427939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6656832" y="4379976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6656832" y="4654296"/>
            <a:ext cx="1088136" cy="603504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656832" y="5349240"/>
            <a:ext cx="1088136" cy="603504"/>
          </a:xfrm>
          <a:prstGeom prst="roundRect">
            <a:avLst>
              <a:gd name="adj" fmla="val 18182"/>
            </a:avLst>
          </a:prstGeom>
          <a:solidFill>
            <a:srgbClr val="F8FAFC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6656832" y="6089904"/>
            <a:ext cx="1088136" cy="512064"/>
          </a:xfrm>
          <a:prstGeom prst="roundRect">
            <a:avLst>
              <a:gd name="adj" fmla="val 21429"/>
            </a:avLst>
          </a:prstGeom>
          <a:solidFill>
            <a:srgbClr val="EEF2F7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6656832" y="6702552"/>
            <a:ext cx="1088136" cy="365760"/>
          </a:xfrm>
          <a:prstGeom prst="roundRect">
            <a:avLst>
              <a:gd name="adj" fmla="val 30000"/>
            </a:avLst>
          </a:prstGeom>
          <a:solidFill>
            <a:srgbClr val="C8D0DD"/>
          </a:solidFill>
          <a:ln w="12700">
            <a:solidFill>
              <a:srgbClr val="C8D0D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56832" y="5248656"/>
            <a:ext cx="10881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766560" y="535838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70" dirty="0"/>
          </a:p>
        </p:txBody>
      </p:sp>
      <p:sp>
        <p:nvSpPr>
          <p:cNvPr id="139" name="Text 137"/>
          <p:cNvSpPr/>
          <p:nvPr/>
        </p:nvSpPr>
        <p:spPr>
          <a:xfrm>
            <a:off x="6983730" y="535838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70" dirty="0"/>
          </a:p>
        </p:txBody>
      </p:sp>
      <p:sp>
        <p:nvSpPr>
          <p:cNvPr id="140" name="Text 138"/>
          <p:cNvSpPr/>
          <p:nvPr/>
        </p:nvSpPr>
        <p:spPr>
          <a:xfrm>
            <a:off x="7200900" y="535838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70" dirty="0"/>
          </a:p>
        </p:txBody>
      </p:sp>
      <p:sp>
        <p:nvSpPr>
          <p:cNvPr id="141" name="Shape 139"/>
          <p:cNvSpPr/>
          <p:nvPr/>
        </p:nvSpPr>
        <p:spPr>
          <a:xfrm>
            <a:off x="7418070" y="5294376"/>
            <a:ext cx="180594" cy="310896"/>
          </a:xfrm>
          <a:prstGeom prst="roundRect">
            <a:avLst>
              <a:gd name="adj" fmla="val 40506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418070" y="5358384"/>
            <a:ext cx="1805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770" dirty="0"/>
          </a:p>
        </p:txBody>
      </p:sp>
      <p:sp>
        <p:nvSpPr>
          <p:cNvPr id="143" name="Text 141"/>
          <p:cNvSpPr/>
          <p:nvPr/>
        </p:nvSpPr>
        <p:spPr>
          <a:xfrm>
            <a:off x="1993392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44" name="Text 142"/>
          <p:cNvSpPr/>
          <p:nvPr/>
        </p:nvSpPr>
        <p:spPr>
          <a:xfrm>
            <a:off x="1737360" y="2523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«Подбор»</a:t>
            </a:r>
            <a:endParaRPr lang="en-US" sz="750" dirty="0"/>
          </a:p>
        </p:txBody>
      </p:sp>
      <p:sp>
        <p:nvSpPr>
          <p:cNvPr id="145" name="Text 143"/>
          <p:cNvSpPr/>
          <p:nvPr/>
        </p:nvSpPr>
        <p:spPr>
          <a:xfrm>
            <a:off x="3730752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46" name="Text 144"/>
          <p:cNvSpPr/>
          <p:nvPr/>
        </p:nvSpPr>
        <p:spPr>
          <a:xfrm>
            <a:off x="3474720" y="2523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«Продолжить»</a:t>
            </a:r>
            <a:endParaRPr lang="en-US" sz="750" dirty="0"/>
          </a:p>
        </p:txBody>
      </p:sp>
      <p:sp>
        <p:nvSpPr>
          <p:cNvPr id="147" name="Text 145"/>
          <p:cNvSpPr/>
          <p:nvPr/>
        </p:nvSpPr>
        <p:spPr>
          <a:xfrm>
            <a:off x="5468112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48" name="Text 146"/>
          <p:cNvSpPr/>
          <p:nvPr/>
        </p:nvSpPr>
        <p:spPr>
          <a:xfrm>
            <a:off x="5212080" y="2523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тап по карточке</a:t>
            </a:r>
            <a:endParaRPr lang="en-US" sz="750" dirty="0"/>
          </a:p>
        </p:txBody>
      </p:sp>
      <p:sp>
        <p:nvSpPr>
          <p:cNvPr id="149" name="Text 147"/>
          <p:cNvSpPr/>
          <p:nvPr/>
        </p:nvSpPr>
        <p:spPr>
          <a:xfrm>
            <a:off x="7205472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50" name="Text 148"/>
          <p:cNvSpPr/>
          <p:nvPr/>
        </p:nvSpPr>
        <p:spPr>
          <a:xfrm>
            <a:off x="6949440" y="2523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«выбрать тело»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8942832" y="230428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52" name="Text 150"/>
          <p:cNvSpPr/>
          <p:nvPr/>
        </p:nvSpPr>
        <p:spPr>
          <a:xfrm>
            <a:off x="8686800" y="25237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тап по карточке</a:t>
            </a:r>
            <a:endParaRPr lang="en-US" sz="750" dirty="0"/>
          </a:p>
        </p:txBody>
      </p:sp>
      <p:sp>
        <p:nvSpPr>
          <p:cNvPr id="153" name="Text 151"/>
          <p:cNvSpPr/>
          <p:nvPr/>
        </p:nvSpPr>
        <p:spPr>
          <a:xfrm>
            <a:off x="4663440" y="32918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54" name="Text 152"/>
          <p:cNvSpPr/>
          <p:nvPr/>
        </p:nvSpPr>
        <p:spPr>
          <a:xfrm>
            <a:off x="4069080" y="3593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в корзину</a:t>
            </a:r>
            <a:endParaRPr lang="en-US" sz="800" dirty="0"/>
          </a:p>
        </p:txBody>
      </p:sp>
      <p:sp>
        <p:nvSpPr>
          <p:cNvPr id="155" name="Text 153"/>
          <p:cNvSpPr/>
          <p:nvPr/>
        </p:nvSpPr>
        <p:spPr>
          <a:xfrm>
            <a:off x="4800600" y="4636008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156" name="Text 154"/>
          <p:cNvSpPr/>
          <p:nvPr/>
        </p:nvSpPr>
        <p:spPr>
          <a:xfrm>
            <a:off x="4544568" y="485546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«Оформить»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8732520" y="4224528"/>
            <a:ext cx="2286000" cy="1335024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8961120" y="448056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результата</a:t>
            </a:r>
            <a:endParaRPr lang="en-US" sz="1050" dirty="0"/>
          </a:p>
        </p:txBody>
      </p:sp>
      <p:sp>
        <p:nvSpPr>
          <p:cNvPr id="159" name="Shape 157"/>
          <p:cNvSpPr/>
          <p:nvPr/>
        </p:nvSpPr>
        <p:spPr>
          <a:xfrm>
            <a:off x="8979408" y="479602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125712" y="47365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 экраны покрыты</a:t>
            </a:r>
            <a:endParaRPr lang="en-US" sz="880" dirty="0"/>
          </a:p>
        </p:txBody>
      </p:sp>
      <p:sp>
        <p:nvSpPr>
          <p:cNvPr id="161" name="Shape 159"/>
          <p:cNvSpPr/>
          <p:nvPr/>
        </p:nvSpPr>
        <p:spPr>
          <a:xfrm>
            <a:off x="8979408" y="510692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25712" y="504748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оформить заказ без пропусков</a:t>
            </a:r>
            <a:endParaRPr lang="en-US" sz="880" dirty="0"/>
          </a:p>
        </p:txBody>
      </p:sp>
      <p:sp>
        <p:nvSpPr>
          <p:cNvPr id="163" name="Shape 161"/>
          <p:cNvSpPr/>
          <p:nvPr/>
        </p:nvSpPr>
        <p:spPr>
          <a:xfrm>
            <a:off x="8979408" y="541782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125712" y="535838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добавляется только один поддерживающий экран — помощь</a:t>
            </a:r>
            <a:endParaRPr lang="en-US" sz="880" dirty="0"/>
          </a:p>
        </p:txBody>
      </p:sp>
      <p:sp>
        <p:nvSpPr>
          <p:cNvPr id="165" name="Text 163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low-fi этапе структура признана полной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изменилось при детализации + старт кликабельного прототипа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low-fi я сохранил сценарий, но упростил фильтры и сделал помощь постоянной. Ниже — правила и кнопка запуска интерактивной части.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hi-fi prep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481328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38601417223368e+152" dist="1.0395106291752597e+152" dir="2.7848946955924455e+178">
              <a:srgbClr val="000000">
                <a:alpha val="1.5e+18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96112" y="1719072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769364"/>
            <a:ext cx="16733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Изменения относительно low-fi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50976" y="22082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4884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отдельный экран фильтров убран → оставлены чипы + bottom sheet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950976" y="28483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8892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добавлена постоянная CTA «Нужна помощь»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50976" y="348843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2900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 и checkout объединены в один спокойный экран с карточками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50976" y="412851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069080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карточках товаров появился блок совместимости и понятные бейджи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4709160" y="1481328"/>
            <a:ext cx="2743200" cy="452628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1.7602379987367734e+156" dist="1.32017849905258e+156" dir="1.6709368173554673e+183">
              <a:srgbClr val="000000">
                <a:alpha val="1.5e+18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74336" y="17190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UI-система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83480" y="2084832"/>
            <a:ext cx="822960" cy="530352"/>
          </a:xfrm>
          <a:prstGeom prst="roundRect">
            <a:avLst>
              <a:gd name="adj" fmla="val 2069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6700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#0B1220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6044184" y="2084832"/>
            <a:ext cx="822960" cy="530352"/>
          </a:xfrm>
          <a:prstGeom prst="roundRect">
            <a:avLst>
              <a:gd name="adj" fmla="val 20690"/>
            </a:avLst>
          </a:prstGeom>
          <a:solidFill>
            <a:srgbClr val="132033"/>
          </a:solidFill>
          <a:ln w="12700">
            <a:solidFill>
              <a:srgbClr val="1320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26700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#132033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983480" y="2852928"/>
            <a:ext cx="822960" cy="530352"/>
          </a:xfrm>
          <a:prstGeom prst="roundRect">
            <a:avLst>
              <a:gd name="adj" fmla="val 2069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4381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#14B8A6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6044184" y="2852928"/>
            <a:ext cx="822960" cy="530352"/>
          </a:xfrm>
          <a:prstGeom prst="roundRect">
            <a:avLst>
              <a:gd name="adj" fmla="val 2069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44184" y="343814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#F8FAFC</a:t>
            </a:r>
            <a:endParaRPr lang="en-US" sz="760" dirty="0"/>
          </a:p>
        </p:txBody>
      </p:sp>
      <p:sp>
        <p:nvSpPr>
          <p:cNvPr id="28" name="Text 26"/>
          <p:cNvSpPr/>
          <p:nvPr/>
        </p:nvSpPr>
        <p:spPr>
          <a:xfrm>
            <a:off x="4992624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Шрифты: 24 / 16 / 12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Кнопки: 52–56 px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CTA на экран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7699248" y="1481328"/>
            <a:ext cx="3840480" cy="4526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2.235502258395702e+160" dist="1.6766266937967764e+160" dir="1.0025620904132804e+188">
              <a:srgbClr val="000000">
                <a:alpha val="1.4999999999999998e+19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973568" y="171907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смотреть интерактивную часть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010144" y="221742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215798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 PPTX в режиме показа</a:t>
            </a:r>
            <a:endParaRPr lang="en-US" sz="1110" dirty="0"/>
          </a:p>
        </p:txBody>
      </p:sp>
      <p:sp>
        <p:nvSpPr>
          <p:cNvPr id="33" name="Shape 31"/>
          <p:cNvSpPr/>
          <p:nvPr/>
        </p:nvSpPr>
        <p:spPr>
          <a:xfrm>
            <a:off x="8010144" y="276606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270662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кликай по CTA, карточкам и нижней навигации</a:t>
            </a:r>
            <a:endParaRPr lang="en-US" sz="1110" dirty="0"/>
          </a:p>
        </p:txBody>
      </p:sp>
      <p:sp>
        <p:nvSpPr>
          <p:cNvPr id="35" name="Shape 33"/>
          <p:cNvSpPr/>
          <p:nvPr/>
        </p:nvSpPr>
        <p:spPr>
          <a:xfrm>
            <a:off x="8010144" y="331470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325526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идёт: Home → Подбор → Имплант → Тело → Корзина → Success</a:t>
            </a:r>
            <a:endParaRPr lang="en-US" sz="1110" dirty="0"/>
          </a:p>
        </p:txBody>
      </p:sp>
      <p:sp>
        <p:nvSpPr>
          <p:cNvPr id="37" name="Shape 35"/>
          <p:cNvSpPr/>
          <p:nvPr/>
        </p:nvSpPr>
        <p:spPr>
          <a:xfrm>
            <a:off x="8101584" y="4526280"/>
            <a:ext cx="2651760" cy="566928"/>
          </a:xfrm>
          <a:prstGeom prst="roundRect">
            <a:avLst>
              <a:gd name="adj" fmla="val 1935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2.8390878681625417e+164" dist="2.1293159011219062e+164" dir="6.015372542479682e+192">
              <a:srgbClr val="000000">
                <a:alpha val="1.4999999999999998e+199"/>
              </a:srgbClr>
            </a:outerShdw>
          </a:effectLst>
        </p:spPr>
      </p:sp>
      <p:sp>
        <p:nvSpPr>
          <p:cNvPr id="38" name="Text 36">
            <a:hlinkClick r:id="rId1" tooltip="" action="ppaction://hlinksldjump"/>
          </p:cNvPr>
          <p:cNvSpPr/>
          <p:nvPr/>
        </p:nvSpPr>
        <p:spPr>
          <a:xfrm>
            <a:off x="8193024" y="4636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Запустить прототип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Далее — кликабельные hi-fi экраны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Детализированный прототип • Главная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экран предлагает три безопасных входа: подобрать решение, открыть каталог имплантов или каталог тел.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0288" y="1115568"/>
            <a:ext cx="4160520" cy="5413248"/>
          </a:xfrm>
          <a:prstGeom prst="roundRect">
            <a:avLst>
              <a:gd name="adj" fmla="val 4835"/>
            </a:avLst>
          </a:prstGeom>
          <a:solidFill>
            <a:srgbClr val="111C31"/>
          </a:solidFill>
          <a:ln w="12700">
            <a:solidFill>
              <a:srgbClr val="394B66"/>
            </a:solidFill>
            <a:prstDash val="solid"/>
          </a:ln>
          <a:effectLst>
            <a:outerShdw sx="100000" sy="100000" kx="0" ky="0" algn="bl" rotWithShape="0" blurRad="3.605641592566428e+168" dist="2.704231194424821e+168" dir="3.6092235254878095e+197">
              <a:srgbClr val="000000">
                <a:alpha val="1.5e+20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59068" y="1188720"/>
            <a:ext cx="822960" cy="91440"/>
          </a:xfrm>
          <a:prstGeom prst="roundRect">
            <a:avLst>
              <a:gd name="adj" fmla="val 50000"/>
            </a:avLst>
          </a:prstGeom>
          <a:solidFill>
            <a:srgbClr val="465C7B"/>
          </a:solidFill>
          <a:ln w="12700">
            <a:solidFill>
              <a:srgbClr val="465C7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0456" y="1280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07024"/>
            <a:ext cx="38313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5952744"/>
            <a:ext cx="866394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5" name="Text 13">
            <a:hlinkClick r:id="rId1" tooltip="" action="ppaction://hlinksldjump"/>
          </p:cNvPr>
          <p:cNvSpPr/>
          <p:nvPr/>
        </p:nvSpPr>
        <p:spPr>
          <a:xfrm>
            <a:off x="486460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Домой</a:t>
            </a:r>
            <a:endParaRPr lang="en-US" sz="770" dirty="0"/>
          </a:p>
        </p:txBody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576757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Импланты</a:t>
            </a:r>
            <a:endParaRPr lang="en-US" sz="770" dirty="0"/>
          </a:p>
        </p:txBody>
      </p:sp>
      <p:sp>
        <p:nvSpPr>
          <p:cNvPr id="17" name="Text 15">
            <a:hlinkClick r:id="rId3" tooltip="" action="ppaction://hlinksldjump"/>
          </p:cNvPr>
          <p:cNvSpPr/>
          <p:nvPr/>
        </p:nvSpPr>
        <p:spPr>
          <a:xfrm>
            <a:off x="667054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Тела</a:t>
            </a:r>
            <a:endParaRPr lang="en-US" sz="770" dirty="0"/>
          </a:p>
        </p:txBody>
      </p:sp>
      <p:sp>
        <p:nvSpPr>
          <p:cNvPr id="18" name="Text 16">
            <a:hlinkClick r:id="rId4" tooltip="" action="ppaction://hlinksldjump"/>
          </p:cNvPr>
          <p:cNvSpPr/>
          <p:nvPr/>
        </p:nvSpPr>
        <p:spPr>
          <a:xfrm>
            <a:off x="757351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Корзина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54880" y="1591056"/>
            <a:ext cx="3831336" cy="329184"/>
          </a:xfrm>
          <a:prstGeom prst="roundRect">
            <a:avLst>
              <a:gd name="adj" fmla="val 25000"/>
            </a:avLst>
          </a:prstGeom>
          <a:solidFill>
            <a:srgbClr val="0F1A2D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682496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по органам, телам или задачам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754880" y="2029968"/>
            <a:ext cx="3831336" cy="786384"/>
          </a:xfrm>
          <a:prstGeom prst="roundRect">
            <a:avLst>
              <a:gd name="adj" fmla="val 18605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148840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1A2743"/>
          </a:solidFill>
          <a:ln w="12700">
            <a:solidFill>
              <a:srgbClr val="1A27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199132"/>
            <a:ext cx="969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за 3 шага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82896" y="2414016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Подскажем, что улучшить в первую очередь и какие решения совместимы.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287768" y="2194560"/>
            <a:ext cx="1097280" cy="329184"/>
          </a:xfrm>
          <a:prstGeom prst="roundRect">
            <a:avLst>
              <a:gd name="adj" fmla="val 33333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>
            <a:hlinkClick r:id="rId5" tooltip="" action="ppaction://hlinksldjump"/>
          </p:cNvPr>
          <p:cNvSpPr/>
          <p:nvPr/>
        </p:nvSpPr>
        <p:spPr>
          <a:xfrm>
            <a:off x="7379208" y="2304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Начать подбор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754880" y="2980944"/>
            <a:ext cx="1860804" cy="941832"/>
          </a:xfrm>
          <a:prstGeom prst="roundRect">
            <a:avLst>
              <a:gd name="adj" fmla="val 1165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3072384"/>
            <a:ext cx="676656" cy="758952"/>
          </a:xfrm>
          <a:prstGeom prst="roundRect">
            <a:avLst>
              <a:gd name="adj" fmla="val 13514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32369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23560" y="3090672"/>
            <a:ext cx="9006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Кибер-импланты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5623560" y="331012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78424" y="33604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900+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23560" y="3602736"/>
            <a:ext cx="9006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сердце, зрение, суставы, память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5623560" y="3749040"/>
            <a:ext cx="9006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фильтры, версии, совместимость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6725412" y="2980944"/>
            <a:ext cx="1860804" cy="941832"/>
          </a:xfrm>
          <a:prstGeom prst="roundRect">
            <a:avLst>
              <a:gd name="adj" fmla="val 1165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16852" y="3072384"/>
            <a:ext cx="676656" cy="758952"/>
          </a:xfrm>
          <a:prstGeom prst="roundRect">
            <a:avLst>
              <a:gd name="adj" fmla="val 13514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5140" y="32369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94092" y="3090672"/>
            <a:ext cx="9006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тела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7594092" y="331012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48956" y="33604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94092" y="3602736"/>
            <a:ext cx="9006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мужские, женские, спортивные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7594092" y="3749040"/>
            <a:ext cx="9006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адаптивные и кастомные</a:t>
            </a:r>
            <a:endParaRPr lang="en-US" sz="760" dirty="0"/>
          </a:p>
        </p:txBody>
      </p:sp>
      <p:sp>
        <p:nvSpPr>
          <p:cNvPr id="43" name="Shape 41">
            <a:hlinkClick r:id="rId6" tooltip="" action="ppaction://hlinksldjump"/>
          </p:cNvPr>
          <p:cNvSpPr/>
          <p:nvPr/>
        </p:nvSpPr>
        <p:spPr>
          <a:xfrm>
            <a:off x="4754880" y="2980944"/>
            <a:ext cx="1860804" cy="9418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>
            <a:hlinkClick r:id="rId7" tooltip="" action="ppaction://hlinksldjump"/>
          </p:cNvPr>
          <p:cNvSpPr/>
          <p:nvPr/>
        </p:nvSpPr>
        <p:spPr>
          <a:xfrm>
            <a:off x="6725412" y="2980944"/>
            <a:ext cx="1860804" cy="9418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4032504"/>
            <a:ext cx="3831336" cy="932688"/>
          </a:xfrm>
          <a:prstGeom prst="roundRect">
            <a:avLst>
              <a:gd name="adj" fmla="val 13725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82896" y="415137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Быстрые действия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882896" y="4370832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1A2743"/>
          </a:solidFill>
          <a:ln w="12700">
            <a:solidFill>
              <a:srgbClr val="1A274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56048" y="443484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Подобрать колено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6007608" y="4370832"/>
            <a:ext cx="1024128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80760" y="4434840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Улучшить сердце</a:t>
            </a:r>
            <a:endParaRPr lang="en-US" sz="740" dirty="0"/>
          </a:p>
        </p:txBody>
      </p:sp>
      <p:sp>
        <p:nvSpPr>
          <p:cNvPr id="51" name="Shape 49"/>
          <p:cNvSpPr/>
          <p:nvPr/>
        </p:nvSpPr>
        <p:spPr>
          <a:xfrm>
            <a:off x="7132320" y="4370832"/>
            <a:ext cx="1005840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443484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заказ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7580376" y="5138928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1816" y="5248656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Нужна помощь</a:t>
            </a:r>
            <a:endParaRPr lang="en-US" sz="810" dirty="0"/>
          </a:p>
        </p:txBody>
      </p:sp>
      <p:sp>
        <p:nvSpPr>
          <p:cNvPr id="55" name="Text 53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Кликабельный экран: CTA и карточки ведут дальше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Детализированный прототип • Подбор за 3 шага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сделан максимально крупным: один вопрос — несколько больших карточек — один следующий шаг.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0288" y="1115568"/>
            <a:ext cx="4160520" cy="5413248"/>
          </a:xfrm>
          <a:prstGeom prst="roundRect">
            <a:avLst>
              <a:gd name="adj" fmla="val 4835"/>
            </a:avLst>
          </a:prstGeom>
          <a:solidFill>
            <a:srgbClr val="111C31"/>
          </a:solidFill>
          <a:ln w="12700">
            <a:solidFill>
              <a:srgbClr val="394B66"/>
            </a:solidFill>
            <a:prstDash val="solid"/>
          </a:ln>
          <a:effectLst>
            <a:outerShdw sx="100000" sy="100000" kx="0" ky="0" algn="bl" rotWithShape="0" blurRad="4.579164822559364e+172" dist="3.434373616919523e+172" dir="2.1655341152926858e+202">
              <a:srgbClr val="000000">
                <a:alpha val="1.5e+20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59068" y="1188720"/>
            <a:ext cx="822960" cy="91440"/>
          </a:xfrm>
          <a:prstGeom prst="roundRect">
            <a:avLst>
              <a:gd name="adj" fmla="val 50000"/>
            </a:avLst>
          </a:prstGeom>
          <a:solidFill>
            <a:srgbClr val="465C7B"/>
          </a:solidFill>
          <a:ln w="12700">
            <a:solidFill>
              <a:srgbClr val="465C7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0456" y="1280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за 3 шага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07024"/>
            <a:ext cx="38313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64608" y="5952744"/>
            <a:ext cx="866394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5" name="Text 13">
            <a:hlinkClick r:id="rId1" tooltip="" action="ppaction://hlinksldjump"/>
          </p:cNvPr>
          <p:cNvSpPr/>
          <p:nvPr/>
        </p:nvSpPr>
        <p:spPr>
          <a:xfrm>
            <a:off x="486460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Домой</a:t>
            </a:r>
            <a:endParaRPr lang="en-US" sz="770" dirty="0"/>
          </a:p>
        </p:txBody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576757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Импланты</a:t>
            </a:r>
            <a:endParaRPr lang="en-US" sz="770" dirty="0"/>
          </a:p>
        </p:txBody>
      </p:sp>
      <p:sp>
        <p:nvSpPr>
          <p:cNvPr id="17" name="Text 15">
            <a:hlinkClick r:id="rId3" tooltip="" action="ppaction://hlinksldjump"/>
          </p:cNvPr>
          <p:cNvSpPr/>
          <p:nvPr/>
        </p:nvSpPr>
        <p:spPr>
          <a:xfrm>
            <a:off x="667054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Тела</a:t>
            </a:r>
            <a:endParaRPr lang="en-US" sz="770" dirty="0"/>
          </a:p>
        </p:txBody>
      </p:sp>
      <p:sp>
        <p:nvSpPr>
          <p:cNvPr id="18" name="Text 16">
            <a:hlinkClick r:id="rId4" tooltip="" action="ppaction://hlinksldjump"/>
          </p:cNvPr>
          <p:cNvSpPr/>
          <p:nvPr/>
        </p:nvSpPr>
        <p:spPr>
          <a:xfrm>
            <a:off x="757351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Корзина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54880" y="1591056"/>
            <a:ext cx="749808" cy="256032"/>
          </a:xfrm>
          <a:prstGeom prst="roundRect">
            <a:avLst>
              <a:gd name="adj" fmla="val 4285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0" name="Text 18">
            <a:hlinkClick r:id="rId1" tooltip="" action="ppaction://hlinksldjump"/>
          </p:cNvPr>
          <p:cNvSpPr/>
          <p:nvPr/>
        </p:nvSpPr>
        <p:spPr>
          <a:xfrm>
            <a:off x="4828032" y="168249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Назад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717536" y="1609344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165963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1 из 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1975104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хочется улучшить в первую очередь?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4754880" y="2267712"/>
            <a:ext cx="3831336" cy="457200"/>
          </a:xfrm>
          <a:prstGeom prst="roundRect">
            <a:avLst>
              <a:gd name="adj" fmla="val 24000"/>
            </a:avLst>
          </a:prstGeom>
          <a:solidFill>
            <a:srgbClr val="15344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237744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Суставы и подвижность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583680" y="2377440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колено, бедро, позвоночник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3831336" cy="457200"/>
          </a:xfrm>
          <a:prstGeom prst="roundRect">
            <a:avLst>
              <a:gd name="adj" fmla="val 24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94436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Сердце и органы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583680" y="2944368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сердце, лёгкие, печень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4754880" y="3401568"/>
            <a:ext cx="3831336" cy="457200"/>
          </a:xfrm>
          <a:prstGeom prst="roundRect">
            <a:avLst>
              <a:gd name="adj" fmla="val 24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51129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Зрение и слух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6583680" y="3511296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сетчатка, слуховой модуль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754880" y="3968496"/>
            <a:ext cx="3831336" cy="457200"/>
          </a:xfrm>
          <a:prstGeom prst="roundRect">
            <a:avLst>
              <a:gd name="adj" fmla="val 24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407822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перенос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6583680" y="4078224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выбрать новый носитель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754880" y="4718304"/>
            <a:ext cx="3831336" cy="512064"/>
          </a:xfrm>
          <a:prstGeom prst="roundRect">
            <a:avLst>
              <a:gd name="adj" fmla="val 21429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4919472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начать с каталога имплантов для подвижности.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507224" y="5376672"/>
            <a:ext cx="960120" cy="347472"/>
          </a:xfrm>
          <a:prstGeom prst="roundRect">
            <a:avLst>
              <a:gd name="adj" fmla="val 3157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Text 37">
            <a:hlinkClick r:id="rId2" tooltip="" action="ppaction://hlinksldjump"/>
          </p:cNvPr>
          <p:cNvSpPr/>
          <p:nvPr/>
        </p:nvSpPr>
        <p:spPr>
          <a:xfrm>
            <a:off x="7598664" y="54864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Продолжить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754880" y="5376672"/>
            <a:ext cx="960120" cy="347472"/>
          </a:xfrm>
          <a:prstGeom prst="roundRect">
            <a:avLst>
              <a:gd name="adj" fmla="val 31579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1" name="Text 39">
            <a:hlinkClick r:id="rId3" tooltip="" action="ppaction://hlinksldjump"/>
          </p:cNvPr>
          <p:cNvSpPr/>
          <p:nvPr/>
        </p:nvSpPr>
        <p:spPr>
          <a:xfrm>
            <a:off x="4828032" y="5468112"/>
            <a:ext cx="813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Нужна помощь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Кликабельный экран: назад, продолжить, нижняя навигация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Детализированный прототип • Каталог кибер-имплантов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Каталог даёт поиск, фильтры и краткую полезную выжимку в превью: что улучшает, версия, совместимость и цена.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0288" y="1115568"/>
            <a:ext cx="4160520" cy="5413248"/>
          </a:xfrm>
          <a:prstGeom prst="roundRect">
            <a:avLst>
              <a:gd name="adj" fmla="val 4835"/>
            </a:avLst>
          </a:prstGeom>
          <a:solidFill>
            <a:srgbClr val="111C31"/>
          </a:solidFill>
          <a:ln w="12700">
            <a:solidFill>
              <a:srgbClr val="394B66"/>
            </a:solidFill>
            <a:prstDash val="solid"/>
          </a:ln>
          <a:effectLst>
            <a:outerShdw sx="100000" sy="100000" kx="0" ky="0" algn="bl" rotWithShape="0" blurRad="5.815539324650392e+176" dist="4.3616544934877943e+176" dir="1.2993204691756116e+207">
              <a:srgbClr val="000000">
                <a:alpha val="1.4999999999999998e+21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59068" y="1188720"/>
            <a:ext cx="822960" cy="91440"/>
          </a:xfrm>
          <a:prstGeom prst="roundRect">
            <a:avLst>
              <a:gd name="adj" fmla="val 50000"/>
            </a:avLst>
          </a:prstGeom>
          <a:solidFill>
            <a:srgbClr val="465C7B"/>
          </a:solidFill>
          <a:ln w="12700">
            <a:solidFill>
              <a:srgbClr val="465C7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0456" y="1280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Кибер-импланты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07024"/>
            <a:ext cx="38313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486460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Домой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5767578" y="5952744"/>
            <a:ext cx="866394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576757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Импланты</a:t>
            </a:r>
            <a:endParaRPr lang="en-US" sz="770" dirty="0"/>
          </a:p>
        </p:txBody>
      </p:sp>
      <p:sp>
        <p:nvSpPr>
          <p:cNvPr id="17" name="Text 15">
            <a:hlinkClick r:id="rId3" tooltip="" action="ppaction://hlinksldjump"/>
          </p:cNvPr>
          <p:cNvSpPr/>
          <p:nvPr/>
        </p:nvSpPr>
        <p:spPr>
          <a:xfrm>
            <a:off x="667054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Тела</a:t>
            </a:r>
            <a:endParaRPr lang="en-US" sz="770" dirty="0"/>
          </a:p>
        </p:txBody>
      </p:sp>
      <p:sp>
        <p:nvSpPr>
          <p:cNvPr id="18" name="Text 16">
            <a:hlinkClick r:id="rId4" tooltip="" action="ppaction://hlinksldjump"/>
          </p:cNvPr>
          <p:cNvSpPr/>
          <p:nvPr/>
        </p:nvSpPr>
        <p:spPr>
          <a:xfrm>
            <a:off x="757351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Корзина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54880" y="1591056"/>
            <a:ext cx="3264408" cy="329184"/>
          </a:xfrm>
          <a:prstGeom prst="roundRect">
            <a:avLst>
              <a:gd name="adj" fmla="val 25000"/>
            </a:avLst>
          </a:prstGeom>
          <a:solidFill>
            <a:srgbClr val="0F1A2D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682496"/>
            <a:ext cx="30449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Колено, зрение, сердце...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8074152" y="1591056"/>
            <a:ext cx="512064" cy="329184"/>
          </a:xfrm>
          <a:prstGeom prst="roundRect">
            <a:avLst>
              <a:gd name="adj" fmla="val 33333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7304" y="16824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1A2743"/>
          </a:solidFill>
          <a:ln w="12700">
            <a:solidFill>
              <a:srgbClr val="1A27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07568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Подвижность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614416" y="2011680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2075688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053328" y="2011680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0756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Домой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6583680" y="2011680"/>
            <a:ext cx="603504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56832" y="2075688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цене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7242048" y="201168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07568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Совместимые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4754880" y="2359152"/>
            <a:ext cx="3831336" cy="914400"/>
          </a:xfrm>
          <a:prstGeom prst="roundRect">
            <a:avLst>
              <a:gd name="adj" fmla="val 12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2450592"/>
            <a:ext cx="676656" cy="731520"/>
          </a:xfrm>
          <a:prstGeom prst="roundRect">
            <a:avLst>
              <a:gd name="adj" fmla="val 13514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615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23560" y="246888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NeuroKnee X7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5623560" y="2688336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78424" y="27386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62472" y="2688336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17336" y="273862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623560" y="2980944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снижает боль при ходьбе</a:t>
            </a:r>
            <a:endParaRPr lang="en-US" sz="760" dirty="0"/>
          </a:p>
        </p:txBody>
      </p:sp>
      <p:sp>
        <p:nvSpPr>
          <p:cNvPr id="42" name="Text 40"/>
          <p:cNvSpPr/>
          <p:nvPr/>
        </p:nvSpPr>
        <p:spPr>
          <a:xfrm>
            <a:off x="5623560" y="3127248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адаптивная стабилизация / версия 7.2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5623560" y="3273552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 с Atlas Soft и Atlas Sport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7671816" y="301752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12 900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4754880" y="3419856"/>
            <a:ext cx="3831336" cy="914400"/>
          </a:xfrm>
          <a:prstGeom prst="roundRect">
            <a:avLst>
              <a:gd name="adj" fmla="val 12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3511296"/>
            <a:ext cx="676656" cy="731520"/>
          </a:xfrm>
          <a:prstGeom prst="roundRect">
            <a:avLst>
              <a:gd name="adj" fmla="val 13514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36758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623560" y="3529584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CardioCore M3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5623560" y="3749040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78424" y="37993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тихо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23560" y="4041648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сердечного ритма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5623560" y="4187952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тихий режим / low energy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5623560" y="433425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домашняя установка доступна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7671816" y="407822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18 400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4754880" y="4480560"/>
            <a:ext cx="3831336" cy="914400"/>
          </a:xfrm>
          <a:prstGeom prst="roundRect">
            <a:avLst>
              <a:gd name="adj" fmla="val 12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46320" y="4572000"/>
            <a:ext cx="676656" cy="731520"/>
          </a:xfrm>
          <a:prstGeom prst="roundRect">
            <a:avLst>
              <a:gd name="adj" fmla="val 13514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47365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23560" y="4590288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OpticRay S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5623560" y="4809744"/>
            <a:ext cx="457200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78424" y="486003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623560" y="5102352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улучшение зрения в сумерках</a:t>
            </a:r>
            <a:endParaRPr lang="en-US" sz="760" dirty="0"/>
          </a:p>
        </p:txBody>
      </p:sp>
      <p:sp>
        <p:nvSpPr>
          <p:cNvPr id="62" name="Text 60"/>
          <p:cNvSpPr/>
          <p:nvPr/>
        </p:nvSpPr>
        <p:spPr>
          <a:xfrm>
            <a:off x="5623560" y="524865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крупного интерфейса</a:t>
            </a:r>
            <a:endParaRPr lang="en-US" sz="760" dirty="0"/>
          </a:p>
        </p:txBody>
      </p:sp>
      <p:sp>
        <p:nvSpPr>
          <p:cNvPr id="63" name="Text 61"/>
          <p:cNvSpPr/>
          <p:nvPr/>
        </p:nvSpPr>
        <p:spPr>
          <a:xfrm>
            <a:off x="5623560" y="5394960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 с любым носителем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7671816" y="513892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9 700</a:t>
            </a:r>
            <a:endParaRPr lang="en-US" sz="820" dirty="0"/>
          </a:p>
        </p:txBody>
      </p:sp>
      <p:sp>
        <p:nvSpPr>
          <p:cNvPr id="65" name="Shape 63">
            <a:hlinkClick r:id="rId1" tooltip="" action="ppaction://hlinksldjump"/>
          </p:cNvPr>
          <p:cNvSpPr/>
          <p:nvPr/>
        </p:nvSpPr>
        <p:spPr>
          <a:xfrm>
            <a:off x="4754880" y="2359152"/>
            <a:ext cx="3831336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Кликабельно: первая карточка, Home/Тела/Корзина в нижней навигации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Детализированный прототип • Карточка кибер-импланта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отвечает на четыре вопроса: что улучшает, кому подходит, с чем совместима и что нужно для установки.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0288" y="1115568"/>
            <a:ext cx="4160520" cy="5413248"/>
          </a:xfrm>
          <a:prstGeom prst="roundRect">
            <a:avLst>
              <a:gd name="adj" fmla="val 4835"/>
            </a:avLst>
          </a:prstGeom>
          <a:solidFill>
            <a:srgbClr val="111C31"/>
          </a:solidFill>
          <a:ln w="12700">
            <a:solidFill>
              <a:srgbClr val="394B66"/>
            </a:solidFill>
            <a:prstDash val="solid"/>
          </a:ln>
          <a:effectLst>
            <a:outerShdw sx="100000" sy="100000" kx="0" ky="0" algn="bl" rotWithShape="0" blurRad="7.385734942305998e+180" dist="5.539301206729498e+180" dir="7.795922815053669e+211">
              <a:srgbClr val="000000">
                <a:alpha val="1.5e+21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59068" y="1188720"/>
            <a:ext cx="822960" cy="91440"/>
          </a:xfrm>
          <a:prstGeom prst="roundRect">
            <a:avLst>
              <a:gd name="adj" fmla="val 50000"/>
            </a:avLst>
          </a:prstGeom>
          <a:solidFill>
            <a:srgbClr val="465C7B"/>
          </a:solidFill>
          <a:ln w="12700">
            <a:solidFill>
              <a:srgbClr val="465C7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0456" y="1280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NeuroKnee X7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07024"/>
            <a:ext cx="38313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486460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Домой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5767578" y="5952744"/>
            <a:ext cx="866394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6" name="Text 14">
            <a:hlinkClick r:id="rId2" tooltip="" action="ppaction://hlinksldjump"/>
          </p:cNvPr>
          <p:cNvSpPr/>
          <p:nvPr/>
        </p:nvSpPr>
        <p:spPr>
          <a:xfrm>
            <a:off x="576757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Импланты</a:t>
            </a:r>
            <a:endParaRPr lang="en-US" sz="770" dirty="0"/>
          </a:p>
        </p:txBody>
      </p:sp>
      <p:sp>
        <p:nvSpPr>
          <p:cNvPr id="17" name="Text 15">
            <a:hlinkClick r:id="rId3" tooltip="" action="ppaction://hlinksldjump"/>
          </p:cNvPr>
          <p:cNvSpPr/>
          <p:nvPr/>
        </p:nvSpPr>
        <p:spPr>
          <a:xfrm>
            <a:off x="667054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Тела</a:t>
            </a:r>
            <a:endParaRPr lang="en-US" sz="770" dirty="0"/>
          </a:p>
        </p:txBody>
      </p:sp>
      <p:sp>
        <p:nvSpPr>
          <p:cNvPr id="18" name="Text 16">
            <a:hlinkClick r:id="rId4" tooltip="" action="ppaction://hlinksldjump"/>
          </p:cNvPr>
          <p:cNvSpPr/>
          <p:nvPr/>
        </p:nvSpPr>
        <p:spPr>
          <a:xfrm>
            <a:off x="757351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Корзина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54880" y="1591056"/>
            <a:ext cx="749808" cy="256032"/>
          </a:xfrm>
          <a:prstGeom prst="roundRect">
            <a:avLst>
              <a:gd name="adj" fmla="val 4285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0" name="Text 18">
            <a:hlinkClick r:id="rId1" tooltip="" action="ppaction://hlinksldjump"/>
          </p:cNvPr>
          <p:cNvSpPr/>
          <p:nvPr/>
        </p:nvSpPr>
        <p:spPr>
          <a:xfrm>
            <a:off x="4828032" y="168249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Назад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799832" y="1609344"/>
            <a:ext cx="658368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54696" y="165963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7.2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1975104"/>
            <a:ext cx="3831336" cy="914400"/>
          </a:xfrm>
          <a:prstGeom prst="roundRect">
            <a:avLst>
              <a:gd name="adj" fmla="val 16000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2084832"/>
            <a:ext cx="786384" cy="694944"/>
          </a:xfrm>
          <a:prstGeom prst="roundRect">
            <a:avLst>
              <a:gd name="adj" fmla="val 15789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30428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21579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Умный коленный имплант для мягкой ходьбы и снижения боли при нагрузке.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516368" y="256032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12 900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754880" y="3035808"/>
            <a:ext cx="3831336" cy="676656"/>
          </a:xfrm>
          <a:prstGeom prst="roundRect">
            <a:avLst>
              <a:gd name="adj" fmla="val 16216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31821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улучшает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82896" y="342442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364992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стабильность шага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882896" y="357073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351129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болевого пика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882896" y="371703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65760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адаптацию к лестницам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754880" y="3822192"/>
            <a:ext cx="3831336" cy="566928"/>
          </a:xfrm>
          <a:prstGeom prst="roundRect">
            <a:avLst>
              <a:gd name="adj" fmla="val 19355"/>
            </a:avLst>
          </a:prstGeom>
          <a:solidFill>
            <a:srgbClr val="15344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82896" y="4032504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Совместимые тела: Atlas Soft, Atlas Sport, Nova Care.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4754880" y="4498848"/>
            <a:ext cx="3831336" cy="676656"/>
          </a:xfrm>
          <a:prstGeom prst="roundRect">
            <a:avLst>
              <a:gd name="adj" fmla="val 16216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82896" y="47457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Характеристики: размер S–XL • установка 90 мин • гарантия 5 лет • режим ходьбы 4 уровня.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754880" y="5376672"/>
            <a:ext cx="1097280" cy="384048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1" name="Text 39">
            <a:hlinkClick r:id="rId2" tooltip="" action="ppaction://hlinksldjump"/>
          </p:cNvPr>
          <p:cNvSpPr/>
          <p:nvPr/>
        </p:nvSpPr>
        <p:spPr>
          <a:xfrm>
            <a:off x="4828032" y="5468112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Только имплант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5980176" y="5376672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>
            <a:hlinkClick r:id="rId3" tooltip="" action="ppaction://hlinksldjump"/>
          </p:cNvPr>
          <p:cNvSpPr/>
          <p:nvPr/>
        </p:nvSpPr>
        <p:spPr>
          <a:xfrm>
            <a:off x="6071616" y="54864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Добавить и выбрать тело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Кликабельно: назад, сценарий с телом и сценарий без тела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Детализированный прототип • Каталог доступных тел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каталоге тел важны не только внешние параметры, но и состояние органов, класс мобильности и совместимость с уже выбранными имплантами.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0288" y="1115568"/>
            <a:ext cx="4160520" cy="5413248"/>
          </a:xfrm>
          <a:prstGeom prst="roundRect">
            <a:avLst>
              <a:gd name="adj" fmla="val 4835"/>
            </a:avLst>
          </a:prstGeom>
          <a:solidFill>
            <a:srgbClr val="111C31"/>
          </a:solidFill>
          <a:ln w="12700">
            <a:solidFill>
              <a:srgbClr val="394B66"/>
            </a:solidFill>
            <a:prstDash val="solid"/>
          </a:ln>
          <a:effectLst>
            <a:outerShdw sx="100000" sy="100000" kx="0" ky="0" algn="bl" rotWithShape="0" blurRad="9.379883376728618e+184" dist="7.034912532546463e+184" dir="4.677553689032201e+216">
              <a:srgbClr val="000000">
                <a:alpha val="1.4999999999999999e+22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59068" y="1188720"/>
            <a:ext cx="822960" cy="91440"/>
          </a:xfrm>
          <a:prstGeom prst="roundRect">
            <a:avLst>
              <a:gd name="adj" fmla="val 50000"/>
            </a:avLst>
          </a:prstGeom>
          <a:solidFill>
            <a:srgbClr val="465C7B"/>
          </a:solidFill>
          <a:ln w="12700">
            <a:solidFill>
              <a:srgbClr val="465C7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0456" y="1280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тела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07024"/>
            <a:ext cx="38313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486460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Домой</a:t>
            </a:r>
            <a:endParaRPr lang="en-US" sz="770" dirty="0"/>
          </a:p>
        </p:txBody>
      </p:sp>
      <p:sp>
        <p:nvSpPr>
          <p:cNvPr id="15" name="Text 13">
            <a:hlinkClick r:id="rId2" tooltip="" action="ppaction://hlinksldjump"/>
          </p:cNvPr>
          <p:cNvSpPr/>
          <p:nvPr/>
        </p:nvSpPr>
        <p:spPr>
          <a:xfrm>
            <a:off x="576757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Импланты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6670548" y="5952744"/>
            <a:ext cx="866394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7" name="Text 15">
            <a:hlinkClick r:id="rId3" tooltip="" action="ppaction://hlinksldjump"/>
          </p:cNvPr>
          <p:cNvSpPr/>
          <p:nvPr/>
        </p:nvSpPr>
        <p:spPr>
          <a:xfrm>
            <a:off x="667054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Тела</a:t>
            </a:r>
            <a:endParaRPr lang="en-US" sz="770" dirty="0"/>
          </a:p>
        </p:txBody>
      </p:sp>
      <p:sp>
        <p:nvSpPr>
          <p:cNvPr id="18" name="Text 16">
            <a:hlinkClick r:id="rId4" tooltip="" action="ppaction://hlinksldjump"/>
          </p:cNvPr>
          <p:cNvSpPr/>
          <p:nvPr/>
        </p:nvSpPr>
        <p:spPr>
          <a:xfrm>
            <a:off x="757351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Корзина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54880" y="1591056"/>
            <a:ext cx="3831336" cy="329184"/>
          </a:xfrm>
          <a:prstGeom prst="roundRect">
            <a:avLst>
              <a:gd name="adj" fmla="val 25000"/>
            </a:avLst>
          </a:prstGeom>
          <a:solidFill>
            <a:srgbClr val="0F1A2D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4608" y="1682496"/>
            <a:ext cx="3611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Рост, тип, мобильность, стиль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754880" y="201168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2743"/>
          </a:solidFill>
          <a:ln w="12700">
            <a:solidFill>
              <a:srgbClr val="1A27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07568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Мужские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5449824" y="201168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22976" y="207568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Женские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144768" y="2011680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075688"/>
            <a:ext cx="6309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Адаптивные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6976872" y="2011680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0024" y="207568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Anime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7562088" y="2011680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2075688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Спорт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4754880" y="2359152"/>
            <a:ext cx="3831336" cy="914400"/>
          </a:xfrm>
          <a:prstGeom prst="roundRect">
            <a:avLst>
              <a:gd name="adj" fmla="val 12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450592"/>
            <a:ext cx="676656" cy="731520"/>
          </a:xfrm>
          <a:prstGeom prst="roundRect">
            <a:avLst>
              <a:gd name="adj" fmla="val 13514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64608" y="2615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23560" y="246888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Soft 3077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623560" y="2688336"/>
            <a:ext cx="512064" cy="256032"/>
          </a:xfrm>
          <a:prstGeom prst="roundRect">
            <a:avLst>
              <a:gd name="adj" fmla="val 28571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78424" y="2738628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23560" y="2980944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172 см / 68 кг / класс Care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5623560" y="3127248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мягкая биомеханика, комфортный ритм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5623560" y="3273552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 с NeuroKnee X7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7671816" y="3017520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34 000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4754880" y="3419856"/>
            <a:ext cx="3831336" cy="914400"/>
          </a:xfrm>
          <a:prstGeom prst="roundRect">
            <a:avLst>
              <a:gd name="adj" fmla="val 12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3511296"/>
            <a:ext cx="676656" cy="731520"/>
          </a:xfrm>
          <a:prstGeom prst="roundRect">
            <a:avLst>
              <a:gd name="adj" fmla="val 13514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6758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23560" y="3529584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Sport 3077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5623560" y="3749040"/>
            <a:ext cx="530352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78424" y="3799332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623560" y="4041648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178 см / 73 кг / класс Active</a:t>
            </a:r>
            <a:endParaRPr lang="en-US" sz="760" dirty="0"/>
          </a:p>
        </p:txBody>
      </p:sp>
      <p:sp>
        <p:nvSpPr>
          <p:cNvPr id="48" name="Text 46"/>
          <p:cNvSpPr/>
          <p:nvPr/>
        </p:nvSpPr>
        <p:spPr>
          <a:xfrm>
            <a:off x="5623560" y="4187952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усиленная динамика и баланс</a:t>
            </a:r>
            <a:endParaRPr lang="en-US" sz="760" dirty="0"/>
          </a:p>
        </p:txBody>
      </p:sp>
      <p:sp>
        <p:nvSpPr>
          <p:cNvPr id="49" name="Text 47"/>
          <p:cNvSpPr/>
          <p:nvPr/>
        </p:nvSpPr>
        <p:spPr>
          <a:xfrm>
            <a:off x="5623560" y="433425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подходит для спорта и лестниц</a:t>
            </a:r>
            <a:endParaRPr lang="en-US" sz="760" dirty="0"/>
          </a:p>
        </p:txBody>
      </p:sp>
      <p:sp>
        <p:nvSpPr>
          <p:cNvPr id="50" name="Text 48"/>
          <p:cNvSpPr/>
          <p:nvPr/>
        </p:nvSpPr>
        <p:spPr>
          <a:xfrm>
            <a:off x="7671816" y="407822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46 000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4754880" y="4480560"/>
            <a:ext cx="3831336" cy="914400"/>
          </a:xfrm>
          <a:prstGeom prst="roundRect">
            <a:avLst>
              <a:gd name="adj" fmla="val 12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46320" y="4572000"/>
            <a:ext cx="676656" cy="731520"/>
          </a:xfrm>
          <a:prstGeom prst="roundRect">
            <a:avLst>
              <a:gd name="adj" fmla="val 13514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64608" y="473659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23560" y="4590288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Care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5623560" y="4809744"/>
            <a:ext cx="475488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78424" y="486003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623560" y="5102352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нейтральная сборка / высокий ресурс органов</a:t>
            </a:r>
            <a:endParaRPr lang="en-US" sz="760" dirty="0"/>
          </a:p>
        </p:txBody>
      </p:sp>
      <p:sp>
        <p:nvSpPr>
          <p:cNvPr id="58" name="Text 56"/>
          <p:cNvSpPr/>
          <p:nvPr/>
        </p:nvSpPr>
        <p:spPr>
          <a:xfrm>
            <a:off x="5623560" y="524865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восстановления и повседневной жизни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7671816" y="513892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29 800</a:t>
            </a:r>
            <a:endParaRPr lang="en-US" sz="820" dirty="0"/>
          </a:p>
        </p:txBody>
      </p:sp>
      <p:sp>
        <p:nvSpPr>
          <p:cNvPr id="60" name="Shape 58">
            <a:hlinkClick r:id="rId1" tooltip="" action="ppaction://hlinksldjump"/>
          </p:cNvPr>
          <p:cNvSpPr/>
          <p:nvPr/>
        </p:nvSpPr>
        <p:spPr>
          <a:xfrm>
            <a:off x="4754880" y="2359152"/>
            <a:ext cx="3831336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Кликабельно: первая карточка, нижняя навигация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Детализированный прототип • Карточка тела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Экран даёт понятный набор характеристик: рост, вес, пол, цвет кожи, ресурс органов и совместимость с выбранным имплантом.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0288" y="1115568"/>
            <a:ext cx="4160520" cy="5413248"/>
          </a:xfrm>
          <a:prstGeom prst="roundRect">
            <a:avLst>
              <a:gd name="adj" fmla="val 4835"/>
            </a:avLst>
          </a:prstGeom>
          <a:solidFill>
            <a:srgbClr val="111C31"/>
          </a:solidFill>
          <a:ln w="12700">
            <a:solidFill>
              <a:srgbClr val="394B66"/>
            </a:solidFill>
            <a:prstDash val="solid"/>
          </a:ln>
          <a:effectLst>
            <a:outerShdw sx="100000" sy="100000" kx="0" ky="0" algn="bl" rotWithShape="0" blurRad="1.1912451888445345e+189" dist="8.934338916334009e+188" dir="2.806532213419321e+221">
              <a:srgbClr val="000000">
                <a:alpha val="1.4999999999999997e+22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59068" y="1188720"/>
            <a:ext cx="822960" cy="91440"/>
          </a:xfrm>
          <a:prstGeom prst="roundRect">
            <a:avLst>
              <a:gd name="adj" fmla="val 50000"/>
            </a:avLst>
          </a:prstGeom>
          <a:solidFill>
            <a:srgbClr val="465C7B"/>
          </a:solidFill>
          <a:ln w="12700">
            <a:solidFill>
              <a:srgbClr val="465C7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0456" y="1280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Soft 3077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07024"/>
            <a:ext cx="38313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486460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Домой</a:t>
            </a:r>
            <a:endParaRPr lang="en-US" sz="770" dirty="0"/>
          </a:p>
        </p:txBody>
      </p:sp>
      <p:sp>
        <p:nvSpPr>
          <p:cNvPr id="15" name="Text 13">
            <a:hlinkClick r:id="rId2" tooltip="" action="ppaction://hlinksldjump"/>
          </p:cNvPr>
          <p:cNvSpPr/>
          <p:nvPr/>
        </p:nvSpPr>
        <p:spPr>
          <a:xfrm>
            <a:off x="576757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Импланты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6670548" y="5952744"/>
            <a:ext cx="866394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7" name="Text 15">
            <a:hlinkClick r:id="rId3" tooltip="" action="ppaction://hlinksldjump"/>
          </p:cNvPr>
          <p:cNvSpPr/>
          <p:nvPr/>
        </p:nvSpPr>
        <p:spPr>
          <a:xfrm>
            <a:off x="667054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Тела</a:t>
            </a:r>
            <a:endParaRPr lang="en-US" sz="770" dirty="0"/>
          </a:p>
        </p:txBody>
      </p:sp>
      <p:sp>
        <p:nvSpPr>
          <p:cNvPr id="18" name="Text 16">
            <a:hlinkClick r:id="rId4" tooltip="" action="ppaction://hlinksldjump"/>
          </p:cNvPr>
          <p:cNvSpPr/>
          <p:nvPr/>
        </p:nvSpPr>
        <p:spPr>
          <a:xfrm>
            <a:off x="757351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Корзина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54880" y="1591056"/>
            <a:ext cx="749808" cy="256032"/>
          </a:xfrm>
          <a:prstGeom prst="roundRect">
            <a:avLst>
              <a:gd name="adj" fmla="val 4285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0" name="Text 18">
            <a:hlinkClick r:id="rId1" tooltip="" action="ppaction://hlinksldjump"/>
          </p:cNvPr>
          <p:cNvSpPr/>
          <p:nvPr/>
        </p:nvSpPr>
        <p:spPr>
          <a:xfrm>
            <a:off x="4828032" y="1682496"/>
            <a:ext cx="6035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Назад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754880" y="1956816"/>
            <a:ext cx="3831336" cy="932688"/>
          </a:xfrm>
          <a:prstGeom prst="roundRect">
            <a:avLst>
              <a:gd name="adj" fmla="val 15686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64608" y="2066544"/>
            <a:ext cx="786384" cy="713232"/>
          </a:xfrm>
          <a:prstGeom prst="roundRect">
            <a:avLst>
              <a:gd name="adj" fmla="val 15385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32257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42432" y="21762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Комфортный носитель для ежедневной жизни, плавной ходьбы и долгой адаптации.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742432" y="2523744"/>
            <a:ext cx="1408176" cy="256032"/>
          </a:xfrm>
          <a:prstGeom prst="roundRect">
            <a:avLst>
              <a:gd name="adj" fmla="val 28571"/>
            </a:avLst>
          </a:prstGeom>
          <a:solidFill>
            <a:srgbClr val="15344E"/>
          </a:solidFill>
          <a:ln w="12700">
            <a:solidFill>
              <a:srgbClr val="1534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97296" y="2574036"/>
            <a:ext cx="12984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 с NeuroKnee X7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54880" y="3017520"/>
            <a:ext cx="3831336" cy="731520"/>
          </a:xfrm>
          <a:prstGeom prst="roundRect">
            <a:avLst>
              <a:gd name="adj" fmla="val 15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316382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Характеристики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82896" y="3364992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172 см • вес 68 кг • пол: neutral • цвет кожи: warm beige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882896" y="3529584"/>
            <a:ext cx="2880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ресурс органов: 92% • мобильность: Care • восстановление: быстрое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754880" y="3895344"/>
            <a:ext cx="3831336" cy="621792"/>
          </a:xfrm>
          <a:prstGeom prst="roundRect">
            <a:avLst>
              <a:gd name="adj" fmla="val 17647"/>
            </a:avLst>
          </a:prstGeom>
          <a:solidFill>
            <a:srgbClr val="15344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413308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Покупка включает: перенос сознания / адаптацию / сопровождение 14 дней.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754880" y="5376672"/>
            <a:ext cx="1060704" cy="384048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5468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Сравнить позже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0" y="5376672"/>
            <a:ext cx="2139696" cy="384048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>
            <a:hlinkClick r:id="rId2" tooltip="" action="ppaction://hlinksldjump"/>
          </p:cNvPr>
          <p:cNvSpPr/>
          <p:nvPr/>
        </p:nvSpPr>
        <p:spPr>
          <a:xfrm>
            <a:off x="6035040" y="5486400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Добавить в корзину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Кликабельно: назад, добавление в корзину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Детализированный прототип • Корзина и оформление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перегруженного checkout — один экран с крупными карточками: состав заказа, установка, консультация, итог.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0288" y="1115568"/>
            <a:ext cx="4160520" cy="5413248"/>
          </a:xfrm>
          <a:prstGeom prst="roundRect">
            <a:avLst>
              <a:gd name="adj" fmla="val 4835"/>
            </a:avLst>
          </a:prstGeom>
          <a:solidFill>
            <a:srgbClr val="111C31"/>
          </a:solidFill>
          <a:ln w="12700">
            <a:solidFill>
              <a:srgbClr val="394B66"/>
            </a:solidFill>
            <a:prstDash val="solid"/>
          </a:ln>
          <a:effectLst>
            <a:outerShdw sx="100000" sy="100000" kx="0" ky="0" algn="bl" rotWithShape="0" blurRad="1.5128813898325588e+193" dist="1.1346610423744191e+193" dir="1.6839193280515925e+226">
              <a:srgbClr val="000000">
                <a:alpha val="1.4999999999999998e+23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59068" y="1188720"/>
            <a:ext cx="822960" cy="91440"/>
          </a:xfrm>
          <a:prstGeom prst="roundRect">
            <a:avLst>
              <a:gd name="adj" fmla="val 50000"/>
            </a:avLst>
          </a:prstGeom>
          <a:solidFill>
            <a:srgbClr val="465C7B"/>
          </a:solidFill>
          <a:ln w="12700">
            <a:solidFill>
              <a:srgbClr val="465C7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0456" y="1280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Корзина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07024"/>
            <a:ext cx="38313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486460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Домой</a:t>
            </a:r>
            <a:endParaRPr lang="en-US" sz="770" dirty="0"/>
          </a:p>
        </p:txBody>
      </p:sp>
      <p:sp>
        <p:nvSpPr>
          <p:cNvPr id="15" name="Text 13">
            <a:hlinkClick r:id="rId2" tooltip="" action="ppaction://hlinksldjump"/>
          </p:cNvPr>
          <p:cNvSpPr/>
          <p:nvPr/>
        </p:nvSpPr>
        <p:spPr>
          <a:xfrm>
            <a:off x="576757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Импланты</a:t>
            </a:r>
            <a:endParaRPr lang="en-US" sz="770" dirty="0"/>
          </a:p>
        </p:txBody>
      </p:sp>
      <p:sp>
        <p:nvSpPr>
          <p:cNvPr id="16" name="Text 14">
            <a:hlinkClick r:id="rId3" tooltip="" action="ppaction://hlinksldjump"/>
          </p:cNvPr>
          <p:cNvSpPr/>
          <p:nvPr/>
        </p:nvSpPr>
        <p:spPr>
          <a:xfrm>
            <a:off x="667054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Тела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7573518" y="5952744"/>
            <a:ext cx="866394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8" name="Text 16">
            <a:hlinkClick r:id="rId4" tooltip="" action="ppaction://hlinksldjump"/>
          </p:cNvPr>
          <p:cNvSpPr/>
          <p:nvPr/>
        </p:nvSpPr>
        <p:spPr>
          <a:xfrm>
            <a:off x="757351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Корзина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54880" y="1627632"/>
            <a:ext cx="3831336" cy="786384"/>
          </a:xfrm>
          <a:prstGeom prst="roundRect">
            <a:avLst>
              <a:gd name="adj" fmla="val 13953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719072"/>
            <a:ext cx="676656" cy="603504"/>
          </a:xfrm>
          <a:prstGeom prst="roundRect">
            <a:avLst>
              <a:gd name="adj" fmla="val 15152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836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23560" y="173736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NeuroKnee X7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623560" y="1956816"/>
            <a:ext cx="365760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78424" y="20071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шт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623560" y="2249424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7.2 • установка 90 мин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5623560" y="2395728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 режим: вместе с телом</a:t>
            </a:r>
            <a:endParaRPr lang="en-US" sz="760" dirty="0"/>
          </a:p>
        </p:txBody>
      </p:sp>
      <p:sp>
        <p:nvSpPr>
          <p:cNvPr id="27" name="Text 25"/>
          <p:cNvSpPr/>
          <p:nvPr/>
        </p:nvSpPr>
        <p:spPr>
          <a:xfrm>
            <a:off x="7671816" y="2157984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12 900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754880" y="2523744"/>
            <a:ext cx="3831336" cy="786384"/>
          </a:xfrm>
          <a:prstGeom prst="roundRect">
            <a:avLst>
              <a:gd name="adj" fmla="val 13953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2615184"/>
            <a:ext cx="676656" cy="603504"/>
          </a:xfrm>
          <a:prstGeom prst="roundRect">
            <a:avLst>
              <a:gd name="adj" fmla="val 15152"/>
            </a:avLst>
          </a:prstGeom>
          <a:solidFill>
            <a:srgbClr val="1A274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77977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23560" y="2633472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Soft 3077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5623560" y="2852928"/>
            <a:ext cx="365760" cy="256032"/>
          </a:xfrm>
          <a:prstGeom prst="roundRect">
            <a:avLst>
              <a:gd name="adj" fmla="val 28571"/>
            </a:avLst>
          </a:prstGeom>
          <a:solidFill>
            <a:srgbClr val="16314D"/>
          </a:solidFill>
          <a:ln w="12700">
            <a:solidFill>
              <a:srgbClr val="1631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78424" y="2903220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шт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3560" y="3145536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класс Care • ресурс органов 92%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5623560" y="3291840"/>
            <a:ext cx="2871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совместимость подтверждена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7671816" y="3054096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₡ 34 000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4754880" y="3419856"/>
            <a:ext cx="3831336" cy="749808"/>
          </a:xfrm>
          <a:prstGeom prst="roundRect">
            <a:avLst>
              <a:gd name="adj" fmla="val 14634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35844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Консультация и установка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82896" y="3785616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Клиника рядом • 22 июля • 11:30 • домашнее сопровождение доступно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754880" y="4297680"/>
            <a:ext cx="3831336" cy="566928"/>
          </a:xfrm>
          <a:prstGeom prst="roundRect">
            <a:avLst>
              <a:gd name="adj" fmla="val 19355"/>
            </a:avLst>
          </a:prstGeom>
          <a:solidFill>
            <a:srgbClr val="15344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82896" y="4517136"/>
            <a:ext cx="2651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₡ 46 900  •  в цену входит базовая адаптация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754880" y="5376672"/>
            <a:ext cx="960120" cy="384048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8032" y="5468112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Изменить слот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5852160" y="5376672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>
            <a:hlinkClick r:id="rId1" tooltip="" action="ppaction://hlinksldjump"/>
          </p:cNvPr>
          <p:cNvSpPr/>
          <p:nvPr/>
        </p:nvSpPr>
        <p:spPr>
          <a:xfrm>
            <a:off x="5943600" y="548640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Подтвердить заказ</a:t>
            </a:r>
            <a:endParaRPr lang="en-US" sz="86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Кликабельно: подтверждение заказа и нижняя навигация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Детализированный прототип • Подтверждение заказа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экран не бросает пользователя: сразу показывает следующий шаг, дату установки и куда обращаться за помощью.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prototype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90288" y="1115568"/>
            <a:ext cx="4160520" cy="5413248"/>
          </a:xfrm>
          <a:prstGeom prst="roundRect">
            <a:avLst>
              <a:gd name="adj" fmla="val 4835"/>
            </a:avLst>
          </a:prstGeom>
          <a:solidFill>
            <a:srgbClr val="111C31"/>
          </a:solidFill>
          <a:ln w="12700">
            <a:solidFill>
              <a:srgbClr val="394B66"/>
            </a:solidFill>
            <a:prstDash val="solid"/>
          </a:ln>
          <a:effectLst>
            <a:outerShdw sx="100000" sy="100000" kx="0" ky="0" algn="bl" rotWithShape="0" blurRad="1.9213593650873497e+197" dist="1.4410195238155123e+197" dir="1.0103515968309554e+231">
              <a:srgbClr val="000000">
                <a:alpha val="1.4999999999999997e+23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259068" y="1188720"/>
            <a:ext cx="822960" cy="91440"/>
          </a:xfrm>
          <a:prstGeom prst="roundRect">
            <a:avLst>
              <a:gd name="adj" fmla="val 50000"/>
            </a:avLst>
          </a:prstGeom>
          <a:solidFill>
            <a:srgbClr val="465C7B"/>
          </a:solidFill>
          <a:ln w="12700">
            <a:solidFill>
              <a:srgbClr val="465C7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8016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257800" y="1280160"/>
            <a:ext cx="2825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CHANGEBODY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8220456" y="128016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▮▮▮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4754880" y="13533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 подтверждён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5907024"/>
            <a:ext cx="3831336" cy="420624"/>
          </a:xfrm>
          <a:prstGeom prst="roundRect">
            <a:avLst>
              <a:gd name="adj" fmla="val 2608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4" name="Text 12">
            <a:hlinkClick r:id="rId1" tooltip="" action="ppaction://hlinksldjump"/>
          </p:cNvPr>
          <p:cNvSpPr/>
          <p:nvPr/>
        </p:nvSpPr>
        <p:spPr>
          <a:xfrm>
            <a:off x="486460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Домой</a:t>
            </a:r>
            <a:endParaRPr lang="en-US" sz="770" dirty="0"/>
          </a:p>
        </p:txBody>
      </p:sp>
      <p:sp>
        <p:nvSpPr>
          <p:cNvPr id="15" name="Text 13">
            <a:hlinkClick r:id="rId2" tooltip="" action="ppaction://hlinksldjump"/>
          </p:cNvPr>
          <p:cNvSpPr/>
          <p:nvPr/>
        </p:nvSpPr>
        <p:spPr>
          <a:xfrm>
            <a:off x="576757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Импланты</a:t>
            </a:r>
            <a:endParaRPr lang="en-US" sz="770" dirty="0"/>
          </a:p>
        </p:txBody>
      </p:sp>
      <p:sp>
        <p:nvSpPr>
          <p:cNvPr id="16" name="Text 14">
            <a:hlinkClick r:id="rId3" tooltip="" action="ppaction://hlinksldjump"/>
          </p:cNvPr>
          <p:cNvSpPr/>
          <p:nvPr/>
        </p:nvSpPr>
        <p:spPr>
          <a:xfrm>
            <a:off x="667054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Тела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7573518" y="5952744"/>
            <a:ext cx="866394" cy="310896"/>
          </a:xfrm>
          <a:prstGeom prst="roundRect">
            <a:avLst>
              <a:gd name="adj" fmla="val 23529"/>
            </a:avLst>
          </a:prstGeom>
          <a:solidFill>
            <a:srgbClr val="1A2743"/>
          </a:solidFill>
          <a:ln w="12700">
            <a:solidFill>
              <a:srgbClr val="1A2743">
                <a:alpha val="0"/>
              </a:srgbClr>
            </a:solidFill>
            <a:prstDash val="solid"/>
          </a:ln>
        </p:spPr>
      </p:sp>
      <p:sp>
        <p:nvSpPr>
          <p:cNvPr id="18" name="Text 16">
            <a:hlinkClick r:id="rId4" tooltip="" action="ppaction://hlinksldjump"/>
          </p:cNvPr>
          <p:cNvSpPr/>
          <p:nvPr/>
        </p:nvSpPr>
        <p:spPr>
          <a:xfrm>
            <a:off x="7573518" y="6016752"/>
            <a:ext cx="866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Корзина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4754880" y="1773936"/>
            <a:ext cx="3831336" cy="932688"/>
          </a:xfrm>
          <a:prstGeom prst="roundRect">
            <a:avLst>
              <a:gd name="adj" fmla="val 15686"/>
            </a:avLst>
          </a:prstGeom>
          <a:solidFill>
            <a:srgbClr val="15344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2048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Заказ принят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82896" y="2286000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№ CB-3077-0421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754880" y="2871216"/>
            <a:ext cx="3831336" cy="731520"/>
          </a:xfrm>
          <a:prstGeom prst="roundRect">
            <a:avLst>
              <a:gd name="adj" fmla="val 15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303580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82896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июля • 11:30 • клиника «North Care»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24 часа до визита придёт напоминание и чек-лист подготовки.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4754880" y="3785616"/>
            <a:ext cx="3831336" cy="713232"/>
          </a:xfrm>
          <a:prstGeom prst="roundRect">
            <a:avLst>
              <a:gd name="adj" fmla="val 15385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395020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82896" y="415137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чат со специалистом • caregiver access • документы и статус заказа в профиле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754880" y="5376672"/>
            <a:ext cx="932688" cy="384048"/>
          </a:xfrm>
          <a:prstGeom prst="roundRect">
            <a:avLst>
              <a:gd name="adj" fmla="val 28571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9" name="Text 27">
            <a:hlinkClick r:id="rId1" tooltip="" action="ppaction://hlinksldjump"/>
          </p:cNvPr>
          <p:cNvSpPr/>
          <p:nvPr/>
        </p:nvSpPr>
        <p:spPr>
          <a:xfrm>
            <a:off x="4828032" y="546811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u="sng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 каталог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815584" y="5376672"/>
            <a:ext cx="2267712" cy="384048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>
            <a:hlinkClick r:id="rId2" tooltip="" action="ppaction://hlinksldjump"/>
          </p:cNvPr>
          <p:cNvSpPr/>
          <p:nvPr/>
        </p:nvSpPr>
        <p:spPr>
          <a:xfrm>
            <a:off x="5907024" y="54864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Посмотреть flow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Финальный экран ведёт к сводному hi-fi flow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 из детализированных прототипов + что изменилось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структуре путь сохранился, но интерфейс стал мягче: меньше экранов, крупнее цели, понятнее помощь.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738360" y="457200"/>
            <a:ext cx="187452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0" y="530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hi-fi 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1426464" cy="1847088"/>
          </a:xfrm>
          <a:prstGeom prst="roundRect">
            <a:avLst>
              <a:gd name="adj" fmla="val 10256"/>
            </a:avLst>
          </a:prstGeom>
          <a:solidFill>
            <a:srgbClr val="111C31"/>
          </a:solidFill>
          <a:ln w="12700">
            <a:solidFill>
              <a:srgbClr val="30425F"/>
            </a:solidFill>
            <a:prstDash val="solid"/>
          </a:ln>
          <a:effectLst>
            <a:outerShdw sx="100000" sy="100000" kx="0" ky="0" algn="bl" rotWithShape="0" blurRad="2.440126393660934e+201" dist="1.8300947952457007e+201" dir="6.062109580985733e+235">
              <a:srgbClr val="000000">
                <a:alpha val="1.4999999999999996e+24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2011680"/>
            <a:ext cx="1243584" cy="146304"/>
          </a:xfrm>
          <a:prstGeom prst="roundRect">
            <a:avLst>
              <a:gd name="adj" fmla="val 25000"/>
            </a:avLst>
          </a:prstGeom>
          <a:solidFill>
            <a:srgbClr val="1A2A42"/>
          </a:solidFill>
          <a:ln w="12700">
            <a:solidFill>
              <a:srgbClr val="1A2A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4028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24328"/>
            <a:ext cx="1207008" cy="438912"/>
          </a:xfrm>
          <a:prstGeom prst="roundRect">
            <a:avLst>
              <a:gd name="adj" fmla="val 1666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118104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83864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423160" y="1874520"/>
            <a:ext cx="1426464" cy="1847088"/>
          </a:xfrm>
          <a:prstGeom prst="roundRect">
            <a:avLst>
              <a:gd name="adj" fmla="val 10256"/>
            </a:avLst>
          </a:prstGeom>
          <a:solidFill>
            <a:srgbClr val="111C31"/>
          </a:solidFill>
          <a:ln w="12700">
            <a:solidFill>
              <a:srgbClr val="30425F"/>
            </a:solidFill>
            <a:prstDash val="solid"/>
          </a:ln>
          <a:effectLst>
            <a:outerShdw sx="100000" sy="100000" kx="0" ky="0" algn="bl" rotWithShape="0" blurRad="3.0989605199493864e+205" dist="2.3242203899620397e+205" dir="3.63726574859144e+240">
              <a:srgbClr val="000000">
                <a:alpha val="1.4999999999999995e+24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2011680"/>
            <a:ext cx="1243584" cy="146304"/>
          </a:xfrm>
          <a:prstGeom prst="roundRect">
            <a:avLst>
              <a:gd name="adj" fmla="val 25000"/>
            </a:avLst>
          </a:prstGeom>
          <a:solidFill>
            <a:srgbClr val="1A2A42"/>
          </a:solidFill>
          <a:ln w="12700">
            <a:solidFill>
              <a:srgbClr val="1A2A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224028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2624328"/>
            <a:ext cx="1207008" cy="438912"/>
          </a:xfrm>
          <a:prstGeom prst="roundRect">
            <a:avLst>
              <a:gd name="adj" fmla="val 1666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2888" y="3118104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3483864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224528" y="1874520"/>
            <a:ext cx="1426464" cy="1847088"/>
          </a:xfrm>
          <a:prstGeom prst="roundRect">
            <a:avLst>
              <a:gd name="adj" fmla="val 10256"/>
            </a:avLst>
          </a:prstGeom>
          <a:solidFill>
            <a:srgbClr val="111C31"/>
          </a:solidFill>
          <a:ln w="12700">
            <a:solidFill>
              <a:srgbClr val="30425F"/>
            </a:solidFill>
            <a:prstDash val="solid"/>
          </a:ln>
          <a:effectLst>
            <a:outerShdw sx="100000" sy="100000" kx="0" ky="0" algn="bl" rotWithShape="0" blurRad="3.9356798603357206e+209" dist="2.9517598952517903e+209" dir="2.182359449154864e+245">
              <a:srgbClr val="000000">
                <a:alpha val="1.4999999999999995e+254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15968" y="2011680"/>
            <a:ext cx="1243584" cy="146304"/>
          </a:xfrm>
          <a:prstGeom prst="roundRect">
            <a:avLst>
              <a:gd name="adj" fmla="val 25000"/>
            </a:avLst>
          </a:prstGeom>
          <a:solidFill>
            <a:srgbClr val="1A2A42"/>
          </a:solidFill>
          <a:ln w="12700">
            <a:solidFill>
              <a:srgbClr val="1A2A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224028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4256" y="2624328"/>
            <a:ext cx="1207008" cy="438912"/>
          </a:xfrm>
          <a:prstGeom prst="roundRect">
            <a:avLst>
              <a:gd name="adj" fmla="val 1666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34256" y="3118104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3483864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Импланты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025896" y="1874520"/>
            <a:ext cx="1426464" cy="1847088"/>
          </a:xfrm>
          <a:prstGeom prst="roundRect">
            <a:avLst>
              <a:gd name="adj" fmla="val 10256"/>
            </a:avLst>
          </a:prstGeom>
          <a:solidFill>
            <a:srgbClr val="111C31"/>
          </a:solidFill>
          <a:ln w="12700">
            <a:solidFill>
              <a:srgbClr val="30425F"/>
            </a:solidFill>
            <a:prstDash val="solid"/>
          </a:ln>
          <a:effectLst>
            <a:outerShdw sx="100000" sy="100000" kx="0" ky="0" algn="bl" rotWithShape="0" blurRad="4.9983134226263654e+213" dist="3.7487350669697734e+213" dir="1.3094156694929184e+250">
              <a:srgbClr val="000000">
                <a:alpha val="1.4999999999999996e+25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2011680"/>
            <a:ext cx="1243584" cy="146304"/>
          </a:xfrm>
          <a:prstGeom prst="roundRect">
            <a:avLst>
              <a:gd name="adj" fmla="val 25000"/>
            </a:avLst>
          </a:prstGeom>
          <a:solidFill>
            <a:srgbClr val="1A2A42"/>
          </a:solidFill>
          <a:ln w="12700">
            <a:solidFill>
              <a:srgbClr val="1A2A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35624" y="224028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35624" y="2624328"/>
            <a:ext cx="1207008" cy="438912"/>
          </a:xfrm>
          <a:prstGeom prst="roundRect">
            <a:avLst>
              <a:gd name="adj" fmla="val 1666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35624" y="3118104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3483864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Имплант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7827264" y="1874520"/>
            <a:ext cx="1426464" cy="1847088"/>
          </a:xfrm>
          <a:prstGeom prst="roundRect">
            <a:avLst>
              <a:gd name="adj" fmla="val 10256"/>
            </a:avLst>
          </a:prstGeom>
          <a:solidFill>
            <a:srgbClr val="111C31"/>
          </a:solidFill>
          <a:ln w="12700">
            <a:solidFill>
              <a:srgbClr val="30425F"/>
            </a:solidFill>
            <a:prstDash val="solid"/>
          </a:ln>
          <a:effectLst>
            <a:outerShdw sx="100000" sy="100000" kx="0" ky="0" algn="bl" rotWithShape="0" blurRad="6.347858046735484e+217" dist="4.760893535051613e+217" dir="7.85649401695751e+254">
              <a:srgbClr val="000000">
                <a:alpha val="1.4999999999999996e+264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18704" y="2011680"/>
            <a:ext cx="1243584" cy="146304"/>
          </a:xfrm>
          <a:prstGeom prst="roundRect">
            <a:avLst>
              <a:gd name="adj" fmla="val 25000"/>
            </a:avLst>
          </a:prstGeom>
          <a:solidFill>
            <a:srgbClr val="1A2A42"/>
          </a:solidFill>
          <a:ln w="12700">
            <a:solidFill>
              <a:srgbClr val="1A2A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36992" y="224028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36992" y="2624328"/>
            <a:ext cx="1207008" cy="438912"/>
          </a:xfrm>
          <a:prstGeom prst="roundRect">
            <a:avLst>
              <a:gd name="adj" fmla="val 1666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6992" y="3118104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3483864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Тела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9628632" y="1874520"/>
            <a:ext cx="1426464" cy="1847088"/>
          </a:xfrm>
          <a:prstGeom prst="roundRect">
            <a:avLst>
              <a:gd name="adj" fmla="val 10256"/>
            </a:avLst>
          </a:prstGeom>
          <a:solidFill>
            <a:srgbClr val="111C31"/>
          </a:solidFill>
          <a:ln w="12700">
            <a:solidFill>
              <a:srgbClr val="30425F"/>
            </a:solidFill>
            <a:prstDash val="solid"/>
          </a:ln>
          <a:effectLst>
            <a:outerShdw sx="100000" sy="100000" kx="0" ky="0" algn="bl" rotWithShape="0" blurRad="8.061779719354066e+221" dist="6.046334789515548e+221" dir="4.713896410174506e+259">
              <a:srgbClr val="000000">
                <a:alpha val="1.4999999999999995e+269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20072" y="2011680"/>
            <a:ext cx="1243584" cy="146304"/>
          </a:xfrm>
          <a:prstGeom prst="roundRect">
            <a:avLst>
              <a:gd name="adj" fmla="val 25000"/>
            </a:avLst>
          </a:prstGeom>
          <a:solidFill>
            <a:srgbClr val="1A2A42"/>
          </a:solidFill>
          <a:ln w="12700">
            <a:solidFill>
              <a:srgbClr val="1A2A4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38360" y="224028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738360" y="2624328"/>
            <a:ext cx="1207008" cy="438912"/>
          </a:xfrm>
          <a:prstGeom prst="roundRect">
            <a:avLst>
              <a:gd name="adj" fmla="val 16667"/>
            </a:avLst>
          </a:prstGeom>
          <a:solidFill>
            <a:srgbClr val="1A2A42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38360" y="3118104"/>
            <a:ext cx="1207008" cy="292608"/>
          </a:xfrm>
          <a:prstGeom prst="roundRect">
            <a:avLst>
              <a:gd name="adj" fmla="val 25000"/>
            </a:avLst>
          </a:prstGeom>
          <a:solidFill>
            <a:srgbClr val="132033"/>
          </a:solidFill>
          <a:ln w="12700">
            <a:solidFill>
              <a:srgbClr val="3042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38360" y="3483864"/>
            <a:ext cx="12070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Тело / корзина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2048256" y="26151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792224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CTA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849624" y="26151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3593592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650992" y="26151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394960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тап по карточке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452360" y="26151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7196328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 с совместимостью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9253728" y="2615184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8997696" y="2834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добавление в корзину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68680" y="4572000"/>
            <a:ext cx="44805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0238460243579663e+226" dist="7.678845182684747e+225" dir="2.8283378461047036e+264">
              <a:srgbClr val="000000">
                <a:alpha val="1.4999999999999994e+274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78992" y="4791456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DDF7F3"/>
          </a:solidFill>
          <a:ln w="12700">
            <a:solidFill>
              <a:srgbClr val="DDF7F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33856" y="48417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Изменения после детализации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115568" y="519836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61872" y="513892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фильтры спрятаны в чипы, чтобы не дробить путь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1115568" y="547268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261872" y="541324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стал одной страницей вместо двух экранов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1115568" y="574700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61872" y="568756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 и совместимость появились как постоянные элементы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5486400" y="457200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7DDEA"/>
            </a:solidFill>
            <a:prstDash val="solid"/>
          </a:ln>
          <a:effectLst>
            <a:outerShdw sx="100000" sy="100000" kx="0" ky="0" algn="bl" rotWithShape="0" blurRad="1.3002844509346172e+230" dist="9.75213338200963e+229" dir="1.6970027076628222e+269">
              <a:srgbClr val="000000">
                <a:alpha val="1.4999999999999994e+279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705856" y="480974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5705856" y="508406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сохранился, но стал спокойнее и понятнее для пожилой аудитории: меньше переключений, больше подтверждений и прозрачнее следующий шаг.</a:t>
            </a:r>
            <a:endParaRPr lang="en-US" sz="1020" dirty="0"/>
          </a:p>
        </p:txBody>
      </p:sp>
      <p:sp>
        <p:nvSpPr>
          <p:cNvPr id="65" name="Text 63"/>
          <p:cNvSpPr/>
          <p:nvPr/>
        </p:nvSpPr>
        <p:spPr>
          <a:xfrm>
            <a:off x="502920" y="6473952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содержит кликабельный прототип; PDF — статичный экспорт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CHANGEBODY — UX-концепт мобильного приложения</dc:title>
  <dc:subject>CHANGEBODY UX concept</dc:subject>
  <dc:creator>OpenAI</dc:creator>
  <cp:lastModifiedBy>OpenAI</cp:lastModifiedBy>
  <cp:revision>1</cp:revision>
  <dcterms:created xsi:type="dcterms:W3CDTF">2026-03-08T08:26:56Z</dcterms:created>
  <dcterms:modified xsi:type="dcterms:W3CDTF">2026-03-08T08:26:56Z</dcterms:modified>
</cp:coreProperties>
</file>