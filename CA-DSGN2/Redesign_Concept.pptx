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Deck created for the user brief provided in chat.
- No external factual claims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on this slide is based on the user brief included in the chat.
- No external factual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T-Bank positioning and product structure: https://www.tbank.ru/mybank/auth/ (snippet from web result turn0search1, accessed 2026-03-08).
- Sber services beyond core banking, including Domclick and investments: https://www.sberbank.ru/ru/person/dist_services (snippet from web result turn0search10, accessed 2026-03-08).
- Russian Standard public website and internet bank messaging: https://www.rsb.ru/ and https://rsb.ru/remote/ibank/ (snippets from turn0search0 and turn0search16, accessed 2026-03-08).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IA and structure are derived from the user brief and design reasoning; no external factual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Wireframe created for this deck from the user brief.
- No external assets.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Wireframe created for this deck from the user brief.
- No external assets.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Hero image on this slide: generated with OpenAI image generation for this project on 2026-03-08.
- Layout, copy and UI are original concept work for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Promo image on this slide: generated with OpenAI image generation for this project on 2026-03-08.
- Menu structure and copy are original concept work derived from the user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Product lifestyle image on this slide: generated with OpenAI image generation for this project on 2026-03-08.
- Responsive layouts are original concept work for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Summary of created deliverables only; no external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B"/>
          </a:solidFill>
          <a:ln w="12700">
            <a:solidFill>
              <a:srgbClr val="F5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35240" y="658368"/>
            <a:ext cx="3794760" cy="5212080"/>
          </a:xfrm>
          <a:prstGeom prst="roundRect">
            <a:avLst>
              <a:gd name="adj" fmla="val 5301"/>
            </a:avLst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987552"/>
            <a:ext cx="3154680" cy="1115568"/>
          </a:xfrm>
          <a:prstGeom prst="roundRect">
            <a:avLst>
              <a:gd name="adj" fmla="val 14754"/>
            </a:avLst>
          </a:prstGeom>
          <a:solidFill>
            <a:srgbClr val="211B16"/>
          </a:solidFill>
          <a:ln w="12700">
            <a:solidFill>
              <a:srgbClr val="211B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1521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для жизни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0" y="14264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C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просто банк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01000" y="2395728"/>
            <a:ext cx="1335024" cy="868680"/>
          </a:xfrm>
          <a:prstGeom prst="roundRect">
            <a:avLst>
              <a:gd name="adj" fmla="val 8421"/>
            </a:avLst>
          </a:prstGeom>
          <a:solidFill>
            <a:srgbClr val="1A1F27"/>
          </a:solidFill>
          <a:ln w="12700">
            <a:solidFill>
              <a:srgbClr val="E8E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10728" y="2505456"/>
            <a:ext cx="237744" cy="237744"/>
          </a:xfrm>
          <a:prstGeom prst="roundRect">
            <a:avLst>
              <a:gd name="adj" fmla="val 30769"/>
            </a:avLst>
          </a:prstGeom>
          <a:solidFill>
            <a:srgbClr val="C89A5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21624" y="250545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Кешбек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10728" y="281635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30%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55480" y="2395728"/>
            <a:ext cx="1335024" cy="868680"/>
          </a:xfrm>
          <a:prstGeom prst="roundRect">
            <a:avLst>
              <a:gd name="adj" fmla="val 8421"/>
            </a:avLst>
          </a:prstGeom>
          <a:solidFill>
            <a:srgbClr val="1A1F27"/>
          </a:solidFill>
          <a:ln w="12700">
            <a:solidFill>
              <a:srgbClr val="E8E1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65208" y="2505456"/>
            <a:ext cx="237744" cy="237744"/>
          </a:xfrm>
          <a:prstGeom prst="roundRect">
            <a:avLst>
              <a:gd name="adj" fmla="val 30769"/>
            </a:avLst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76104" y="250545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65208" y="281635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мин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01000" y="3474720"/>
            <a:ext cx="1335024" cy="868680"/>
          </a:xfrm>
          <a:prstGeom prst="roundRect">
            <a:avLst>
              <a:gd name="adj" fmla="val 8421"/>
            </a:avLst>
          </a:prstGeom>
          <a:solidFill>
            <a:srgbClr val="1A1F27"/>
          </a:solidFill>
          <a:ln w="12700">
            <a:solidFill>
              <a:srgbClr val="E8E1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0728" y="3584448"/>
            <a:ext cx="237744" cy="237744"/>
          </a:xfrm>
          <a:prstGeom prst="roundRect">
            <a:avLst>
              <a:gd name="adj" fmla="val 30769"/>
            </a:avLst>
          </a:prstGeom>
          <a:solidFill>
            <a:srgbClr val="1E9B78"/>
          </a:solidFill>
          <a:ln w="12700">
            <a:solidFill>
              <a:srgbClr val="1E9B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1624" y="35844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10728" y="389534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55480" y="3474720"/>
            <a:ext cx="1335024" cy="868680"/>
          </a:xfrm>
          <a:prstGeom prst="roundRect">
            <a:avLst>
              <a:gd name="adj" fmla="val 8421"/>
            </a:avLst>
          </a:prstGeom>
          <a:solidFill>
            <a:srgbClr val="1A1F27"/>
          </a:solidFill>
          <a:ln w="12700">
            <a:solidFill>
              <a:srgbClr val="E8E1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65208" y="3584448"/>
            <a:ext cx="237744" cy="237744"/>
          </a:xfrm>
          <a:prstGeom prst="roundRect">
            <a:avLst>
              <a:gd name="adj" fmla="val 30769"/>
            </a:avLst>
          </a:prstGeom>
          <a:solidFill>
            <a:srgbClr val="C89A5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76104" y="35844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65208" y="389534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вход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01000" y="4645152"/>
            <a:ext cx="2889504" cy="804672"/>
          </a:xfrm>
          <a:prstGeom prst="roundRect">
            <a:avLst>
              <a:gd name="adj" fmla="val 18182"/>
            </a:avLst>
          </a:prstGeom>
          <a:solidFill>
            <a:srgbClr val="1A1F27"/>
          </a:solidFill>
          <a:ln w="12700">
            <a:solidFill>
              <a:srgbClr val="3B40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4773168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Модульный UI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адаптивные макеты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презентация проекта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" y="987552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E8D2AF"/>
          </a:solidFill>
          <a:ln w="12700">
            <a:solidFill>
              <a:srgbClr val="E8D2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99669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tech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" y="14173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Редизайн корпоративного сайта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 «Русский Стандарт»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58368" y="265176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Концепт, который смещает бренд от «ещё одного банка» к цифровому сервису для планирования повседневной жизни: деньги, путешествия, защита, инвестиции.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8368" y="345643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архив входят: презентация, wireframe-макеты, desktop / menu / tablet / mobile визуализации.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8368" y="4169664"/>
            <a:ext cx="5394960" cy="0"/>
          </a:xfrm>
          <a:prstGeom prst="line">
            <a:avLst/>
          </a:prstGeom>
          <a:noFill/>
          <a:ln w="12700">
            <a:solidFill>
              <a:srgbClr val="CCB8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431596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идея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8368" y="4535424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Тёплая премиальная палитра + технологичные тёмные поверхности + сервисные сценарии вместо типового витринного банка.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8368" y="61447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Dmitry Efimov · self-check assignment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3000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Контекст и задачи проекта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должен решить редизайн и для кого он создаётся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352044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4DB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9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9120" y="1143000"/>
            <a:ext cx="352044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4DB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53712" y="1289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19872" y="1143000"/>
            <a:ext cx="352044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4D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84464" y="1289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618488"/>
            <a:ext cx="2999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устаревший визуальный язык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сложная навигация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слабая лидогенерация главной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банк не выглядит технологичным сервисом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53712" y="1618488"/>
            <a:ext cx="3072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25–45 лет, жители крупных городов, средний и выше среднего доход, активный образ жизни, несколько интересов и сценариев использования сервисов.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84464" y="1618488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выделиться среди конкурентов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показать продукты вне классического банкинга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повысить интерес к кредитам, картам, travel и инвестициям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упростить вход в ключевые сценарии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3401568"/>
            <a:ext cx="10972800" cy="1115568"/>
          </a:xfrm>
          <a:prstGeom prst="roundRect">
            <a:avLst>
              <a:gd name="adj" fmla="val 9836"/>
            </a:avLst>
          </a:prstGeom>
          <a:solidFill>
            <a:srgbClr val="F0E9DE"/>
          </a:solidFill>
          <a:ln w="12700">
            <a:solidFill>
              <a:srgbClr val="F0E9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62102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Продуктовый фокус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48840" y="3566160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E8D2AF"/>
          </a:solidFill>
          <a:ln w="12700">
            <a:solidFill>
              <a:srgbClr val="E8D2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357530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Потребительские кредиты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41064" y="3566160"/>
            <a:ext cx="1755648" cy="310896"/>
          </a:xfrm>
          <a:prstGeom prst="roundRect">
            <a:avLst>
              <a:gd name="adj" fmla="val 23529"/>
            </a:avLst>
          </a:prstGeom>
          <a:solidFill>
            <a:srgbClr val="E8D2AF"/>
          </a:solidFill>
          <a:ln w="12700">
            <a:solidFill>
              <a:srgbClr val="E8D2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41064" y="357530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Кредитные и дебетовые карты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61304" y="3566160"/>
            <a:ext cx="1536192" cy="310896"/>
          </a:xfrm>
          <a:prstGeom prst="roundRect">
            <a:avLst>
              <a:gd name="adj" fmla="val 23529"/>
            </a:avLst>
          </a:prstGeom>
          <a:solidFill>
            <a:srgbClr val="E8D2AF"/>
          </a:solidFill>
          <a:ln w="12700">
            <a:solidFill>
              <a:srgbClr val="E8D2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1304" y="3575304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 и стратегии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62088" y="356616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E8D2AF"/>
          </a:solidFill>
          <a:ln w="12700">
            <a:solidFill>
              <a:srgbClr val="E8D2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2088" y="35753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Страховые продукты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89720" y="3566160"/>
            <a:ext cx="2240280" cy="310896"/>
          </a:xfrm>
          <a:prstGeom prst="roundRect">
            <a:avLst>
              <a:gd name="adj" fmla="val 23529"/>
            </a:avLst>
          </a:prstGeom>
          <a:solidFill>
            <a:srgbClr val="DDD9FF"/>
          </a:solidFill>
          <a:ln w="12700">
            <a:solidFill>
              <a:srgbClr val="DDD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9720" y="35753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Путешествия: билеты, отели, туры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" y="4736592"/>
            <a:ext cx="5303520" cy="1444752"/>
          </a:xfrm>
          <a:prstGeom prst="roundRect">
            <a:avLst>
              <a:gd name="adj" fmla="val 7595"/>
            </a:avLst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9560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Позиционирование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5230368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D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«Не ещё один банк, а помощник для планирования и обустройства жизни» — это требует не только продуктовой витрины, но и эмоционально тёплого интерфейса, который ощущается современным и масштабируемым.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72200" y="4736592"/>
            <a:ext cx="5458968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E4DB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495604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Выбранный дизайн-принцип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82512" y="523036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Вместо мультяшной 3D-эстетики — «editorial fintech»: премиальная фотография, спокойная типографика, мягкие углы, насыщённые CTA и понятная модульная сетка.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43000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Исследование и выводы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сигналы считываются на рынке и как на них ответить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4D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48132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E9E8FF"/>
          </a:solidFill>
          <a:ln w="12700">
            <a:solidFill>
              <a:srgbClr val="E9E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490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Т-Банк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18470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Экосистема и продуктовые сценарии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2267712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и коммуникация читаются как цифровая финансовая экосистема. Это усиливает ощущение удобства, но делает рынок визуально очень похожим.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25696" y="1261872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4DB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26864" y="148132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E9E8FF"/>
          </a:solidFill>
          <a:ln w="12700">
            <a:solidFill>
              <a:srgbClr val="E9E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490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Сбер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26864" y="18470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Сервисная модель и смежные платформы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26864" y="2267712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Сбер демонстрирует не только банковские продукты, но и онлайн-сервисы: от инвестиций до Домклик. Пользователь привыкает к модели «банк + сервисы».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93024" y="1261872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4DB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1481328"/>
            <a:ext cx="1481328" cy="256032"/>
          </a:xfrm>
          <a:prstGeom prst="roundRect">
            <a:avLst>
              <a:gd name="adj" fmla="val 28571"/>
            </a:avLst>
          </a:prstGeom>
          <a:solidFill>
            <a:srgbClr val="F1E6D8"/>
          </a:solidFill>
          <a:ln w="12700">
            <a:solidFill>
              <a:srgbClr val="F1E6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149047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Русский Стандарт (сейчас)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94192" y="18470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Классический банковский фокус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2267712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Текущая подача банка больше опирается на банковские продукты и вход в интернет-банк. Для молодой аудитории не хватает вау-слоя, сценариев и современной иерархии.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" y="3822192"/>
            <a:ext cx="10972800" cy="1682496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4D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40416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 для концепции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9536" y="4425696"/>
            <a:ext cx="128016" cy="128016"/>
          </a:xfrm>
          <a:prstGeom prst="ellipse">
            <a:avLst/>
          </a:prstGeom>
          <a:solidFill>
            <a:srgbClr val="C89A5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440740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Отстроиться не цветом, а тоном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60704" y="45902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Тёплая премиальная палитра, меньше «банковской холодности», больше ощущения сервиса для жизни.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72784" y="4425696"/>
            <a:ext cx="128016" cy="128016"/>
          </a:xfrm>
          <a:prstGeom prst="ellipse">
            <a:avLst/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440740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Сделать продукты осязаемыми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73952" y="45902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Показывать калькулятор, travel, инвестиции и карты как живые сценарии, а не просто список ссылок.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59536" y="4974336"/>
            <a:ext cx="128016" cy="128016"/>
          </a:xfrm>
          <a:prstGeom prst="ellipse">
            <a:avLst/>
          </a:prstGeom>
          <a:solidFill>
            <a:srgbClr val="C89A5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9560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Упростить навигацию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60704" y="51389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Вынести весь широкий продуктовый набор в mega menu с группировкой по жизненным задачам.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72784" y="4974336"/>
            <a:ext cx="128016" cy="128016"/>
          </a:xfrm>
          <a:prstGeom prst="ellipse">
            <a:avLst/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49560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Собрать сильную первую экранную историю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73952" y="51389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должен одновременно продавать, объяснять изменения бренда и приводить к ключевому действию.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43000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Информационная архитектура и сценарии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страница строится вокруг жизненных задач, а не вокруг банковских категорий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658368" y="1207008"/>
            <a:ext cx="2743200" cy="4983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B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4447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главной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96112" y="1847088"/>
            <a:ext cx="310896" cy="219456"/>
          </a:xfrm>
          <a:prstGeom prst="roundRect">
            <a:avLst>
              <a:gd name="adj" fmla="val 33333"/>
            </a:avLst>
          </a:prstGeom>
          <a:solidFill>
            <a:srgbClr val="E8D2AF"/>
          </a:solidFill>
          <a:ln w="12700">
            <a:solidFill>
              <a:srgbClr val="E8D2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85623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98448" y="185623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Header + вход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96112" y="2286000"/>
            <a:ext cx="310896" cy="219456"/>
          </a:xfrm>
          <a:prstGeom prst="roundRect">
            <a:avLst>
              <a:gd name="adj" fmla="val 33333"/>
            </a:avLst>
          </a:prstGeom>
          <a:solidFill>
            <a:srgbClr val="E8D2AF"/>
          </a:solidFill>
          <a:ln w="12700">
            <a:solidFill>
              <a:srgbClr val="E8D2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29514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98448" y="229514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Hero / акция / CTA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6112" y="2724912"/>
            <a:ext cx="310896" cy="219456"/>
          </a:xfrm>
          <a:prstGeom prst="roundRect">
            <a:avLst>
              <a:gd name="adj" fmla="val 33333"/>
            </a:avLst>
          </a:prstGeom>
          <a:solidFill>
            <a:srgbClr val="EEE7DD"/>
          </a:solidFill>
          <a:ln w="12700">
            <a:solidFill>
              <a:srgbClr val="EEE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73405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98448" y="273405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Популярные продукты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6112" y="3163824"/>
            <a:ext cx="310896" cy="219456"/>
          </a:xfrm>
          <a:prstGeom prst="roundRect">
            <a:avLst>
              <a:gd name="adj" fmla="val 33333"/>
            </a:avLst>
          </a:prstGeom>
          <a:solidFill>
            <a:srgbClr val="EEE7DD"/>
          </a:solidFill>
          <a:ln w="12700">
            <a:solidFill>
              <a:srgbClr val="EEE7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17296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98448" y="31729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Почему банк изменился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6112" y="3602736"/>
            <a:ext cx="310896" cy="219456"/>
          </a:xfrm>
          <a:prstGeom prst="roundRect">
            <a:avLst>
              <a:gd name="adj" fmla="val 33333"/>
            </a:avLst>
          </a:prstGeom>
          <a:solidFill>
            <a:srgbClr val="EEE7DD"/>
          </a:solidFill>
          <a:ln w="12700">
            <a:solidFill>
              <a:srgbClr val="EEE7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61188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98448" y="36118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Кредитный калькулятор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6112" y="4041648"/>
            <a:ext cx="310896" cy="219456"/>
          </a:xfrm>
          <a:prstGeom prst="roundRect">
            <a:avLst>
              <a:gd name="adj" fmla="val 33333"/>
            </a:avLst>
          </a:prstGeom>
          <a:solidFill>
            <a:srgbClr val="EEE7DD"/>
          </a:solidFill>
          <a:ln w="12700">
            <a:solidFill>
              <a:srgbClr val="EEE7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05079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98448" y="405079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Карта офисов и ATM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96112" y="4480560"/>
            <a:ext cx="310896" cy="219456"/>
          </a:xfrm>
          <a:prstGeom prst="roundRect">
            <a:avLst>
              <a:gd name="adj" fmla="val 33333"/>
            </a:avLst>
          </a:prstGeom>
          <a:solidFill>
            <a:srgbClr val="EEE7DD"/>
          </a:solidFill>
          <a:ln w="12700">
            <a:solidFill>
              <a:srgbClr val="EEE7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48970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98448" y="448970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Новости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96112" y="4919472"/>
            <a:ext cx="310896" cy="219456"/>
          </a:xfrm>
          <a:prstGeom prst="roundRect">
            <a:avLst>
              <a:gd name="adj" fmla="val 33333"/>
            </a:avLst>
          </a:prstGeom>
          <a:solidFill>
            <a:srgbClr val="EEE7DD"/>
          </a:solidFill>
          <a:ln w="12700">
            <a:solidFill>
              <a:srgbClr val="EEE7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492861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98448" y="492861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Подписка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96112" y="5358384"/>
            <a:ext cx="310896" cy="219456"/>
          </a:xfrm>
          <a:prstGeom prst="roundRect">
            <a:avLst>
              <a:gd name="adj" fmla="val 33333"/>
            </a:avLst>
          </a:prstGeom>
          <a:solidFill>
            <a:srgbClr val="EEE7DD"/>
          </a:solidFill>
          <a:ln w="12700">
            <a:solidFill>
              <a:srgbClr val="EEE7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536752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98448" y="53675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Footer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639312" y="1207008"/>
            <a:ext cx="3858768" cy="4983480"/>
          </a:xfrm>
          <a:prstGeom prst="roundRect">
            <a:avLst>
              <a:gd name="adj" fmla="val 2844"/>
            </a:avLst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58768" y="14447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menu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58768" y="1901952"/>
            <a:ext cx="987552" cy="2048256"/>
          </a:xfrm>
          <a:prstGeom prst="roundRect">
            <a:avLst>
              <a:gd name="adj" fmla="val 7407"/>
            </a:avLst>
          </a:prstGeom>
          <a:solidFill>
            <a:srgbClr val="1A1F27"/>
          </a:solidFill>
          <a:ln w="12700">
            <a:solidFill>
              <a:srgbClr val="3237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68496" y="2084832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968496" y="2432304"/>
            <a:ext cx="7680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C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C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C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Кешбек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C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Рефинансирование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0" y="1901952"/>
            <a:ext cx="987552" cy="2048256"/>
          </a:xfrm>
          <a:prstGeom prst="roundRect">
            <a:avLst>
              <a:gd name="adj" fmla="val 7407"/>
            </a:avLst>
          </a:prstGeom>
          <a:solidFill>
            <a:srgbClr val="1A1F27"/>
          </a:solidFill>
          <a:ln w="12700">
            <a:solidFill>
              <a:srgbClr val="32374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38928" y="2084832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Планы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38928" y="2432304"/>
            <a:ext cx="7680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C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C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Накопления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C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Страхование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C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99632" y="1901952"/>
            <a:ext cx="987552" cy="2048256"/>
          </a:xfrm>
          <a:prstGeom prst="roundRect">
            <a:avLst>
              <a:gd name="adj" fmla="val 7407"/>
            </a:avLst>
          </a:prstGeom>
          <a:solidFill>
            <a:srgbClr val="1A1F27"/>
          </a:solidFill>
          <a:ln w="12700">
            <a:solidFill>
              <a:srgbClr val="32374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2084832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Сервисы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09360" y="2432304"/>
            <a:ext cx="7680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C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Онлайн-банк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C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Платежи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C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Офисы и ATM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C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Помощь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858768" y="4261104"/>
            <a:ext cx="3182112" cy="1389888"/>
          </a:xfrm>
          <a:prstGeom prst="roundRect">
            <a:avLst>
              <a:gd name="adj" fmla="val 6579"/>
            </a:avLst>
          </a:prstGeom>
          <a:solidFill>
            <a:srgbClr val="211B16"/>
          </a:solidFill>
          <a:ln w="12700">
            <a:solidFill>
              <a:srgbClr val="3F34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41648" y="44622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Быстрые сценарии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041648" y="4773168"/>
            <a:ext cx="1371600" cy="201168"/>
          </a:xfrm>
          <a:prstGeom prst="roundRect">
            <a:avLst>
              <a:gd name="adj" fmla="val 36364"/>
            </a:avLst>
          </a:prstGeom>
          <a:solidFill>
            <a:srgbClr val="2B241C"/>
          </a:solidFill>
          <a:ln w="12700">
            <a:solidFill>
              <a:srgbClr val="2B241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41648" y="47823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Подобрать карту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041648" y="5029200"/>
            <a:ext cx="1188720" cy="201168"/>
          </a:xfrm>
          <a:prstGeom prst="roundRect">
            <a:avLst>
              <a:gd name="adj" fmla="val 36364"/>
            </a:avLst>
          </a:prstGeom>
          <a:solidFill>
            <a:srgbClr val="2B241C"/>
          </a:solidFill>
          <a:ln w="12700">
            <a:solidFill>
              <a:srgbClr val="2B241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41648" y="50383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Рассчитать кредит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041648" y="5285232"/>
            <a:ext cx="1371600" cy="201168"/>
          </a:xfrm>
          <a:prstGeom prst="roundRect">
            <a:avLst>
              <a:gd name="adj" fmla="val 36364"/>
            </a:avLst>
          </a:prstGeom>
          <a:solidFill>
            <a:srgbClr val="2B241C"/>
          </a:solidFill>
          <a:ln w="12700">
            <a:solidFill>
              <a:srgbClr val="2B241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41648" y="52943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отделение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726680" y="1207008"/>
            <a:ext cx="3904488" cy="4983480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12700">
            <a:solidFill>
              <a:srgbClr val="E4DB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55280" y="144475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ключевых сценария на первом экране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973568" y="1874520"/>
            <a:ext cx="3401568" cy="859536"/>
          </a:xfrm>
          <a:prstGeom prst="roundRect">
            <a:avLst>
              <a:gd name="adj" fmla="val 8511"/>
            </a:avLst>
          </a:prstGeom>
          <a:solidFill>
            <a:srgbClr val="F7F4EF"/>
          </a:solidFill>
          <a:ln w="12700">
            <a:solidFill>
              <a:srgbClr val="EBE2D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93024" y="20391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Получить деньги быстро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8193024" y="227685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Кредитный калькулятор сразу показывает платеж и выгоду.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973568" y="2990088"/>
            <a:ext cx="3401568" cy="859536"/>
          </a:xfrm>
          <a:prstGeom prst="roundRect">
            <a:avLst>
              <a:gd name="adj" fmla="val 8511"/>
            </a:avLst>
          </a:prstGeom>
          <a:solidFill>
            <a:srgbClr val="F6F1EA"/>
          </a:solidFill>
          <a:ln w="12700">
            <a:solidFill>
              <a:srgbClr val="EBE2D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93024" y="315468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Собрать продукт под себя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8193024" y="339242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Карты, кешбек, travel и инвестиции читаются как единый набор сервисов.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973568" y="4105656"/>
            <a:ext cx="3401568" cy="859536"/>
          </a:xfrm>
          <a:prstGeom prst="roundRect">
            <a:avLst>
              <a:gd name="adj" fmla="val 8511"/>
            </a:avLst>
          </a:prstGeom>
          <a:solidFill>
            <a:srgbClr val="F7F4EF"/>
          </a:solidFill>
          <a:ln w="12700">
            <a:solidFill>
              <a:srgbClr val="EBE2D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93024" y="427024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Перейти в нужное действие без поиска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8193024" y="450799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Кнопки, mega menu и карта отделений сокращают путь до конверсии.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1143000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Прототип: главная страница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фиксирует состав блоков, порядок и приоритет действий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10996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7D0C7"/>
            </a:solidFill>
            <a:prstDash val="solid"/>
          </a:ln>
          <a:effectLst>
            <a:outerShdw sx="100000" sy="100000" kx="0" ky="0" algn="bl" rotWithShape="0" blurRad="19050" dist="1905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11109960" cy="256032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092708"/>
            <a:ext cx="73152" cy="73152"/>
          </a:xfrm>
          <a:prstGeom prst="ellipse">
            <a:avLst/>
          </a:prstGeom>
          <a:solidFill>
            <a:srgbClr val="D9615C"/>
          </a:solidFill>
          <a:ln w="12700">
            <a:solidFill>
              <a:srgbClr val="D961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092708"/>
            <a:ext cx="73152" cy="73152"/>
          </a:xfrm>
          <a:prstGeom prst="ellipse">
            <a:avLst/>
          </a:prstGeom>
          <a:solidFill>
            <a:srgbClr val="E8C25B"/>
          </a:solidFill>
          <a:ln w="12700">
            <a:solidFill>
              <a:srgbClr val="E8C2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" y="1092708"/>
            <a:ext cx="73152" cy="73152"/>
          </a:xfrm>
          <a:prstGeom prst="ellipse">
            <a:avLst/>
          </a:prstGeom>
          <a:solidFill>
            <a:srgbClr val="5BBF7D"/>
          </a:solidFill>
          <a:ln w="12700">
            <a:solidFill>
              <a:srgbClr val="5BBF7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" y="1261872"/>
            <a:ext cx="11055096" cy="520293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1389888"/>
            <a:ext cx="10762488" cy="384048"/>
          </a:xfrm>
          <a:prstGeom prst="roundRect">
            <a:avLst>
              <a:gd name="adj" fmla="val 11905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" y="1453896"/>
            <a:ext cx="10579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Шапка: логотип / меню / вход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22376" y="1883664"/>
            <a:ext cx="10762488" cy="1024128"/>
          </a:xfrm>
          <a:prstGeom prst="roundRect">
            <a:avLst>
              <a:gd name="adj" fmla="val 4464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" y="1947672"/>
            <a:ext cx="10579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Hero: акционное предложение + CTA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05256" y="2084832"/>
            <a:ext cx="3566160" cy="512064"/>
          </a:xfrm>
          <a:prstGeom prst="roundRect">
            <a:avLst>
              <a:gd name="adj" fmla="val 8929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2148840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Заголовок / текст / кнопки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927848" y="2029968"/>
            <a:ext cx="2999232" cy="731520"/>
          </a:xfrm>
          <a:prstGeom prst="roundRect">
            <a:avLst>
              <a:gd name="adj" fmla="val 6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19288" y="2093976"/>
            <a:ext cx="2816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/ промо-иллюстрация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019288" y="231343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+ travel + investment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22376" y="3054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Популярные продукты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2376" y="3255264"/>
            <a:ext cx="2487168" cy="713232"/>
          </a:xfrm>
          <a:prstGeom prst="roundRect">
            <a:avLst>
              <a:gd name="adj" fmla="val 641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319272"/>
            <a:ext cx="2304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продукта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19856" y="3255264"/>
            <a:ext cx="2487168" cy="713232"/>
          </a:xfrm>
          <a:prstGeom prst="roundRect">
            <a:avLst>
              <a:gd name="adj" fmla="val 641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11296" y="3319272"/>
            <a:ext cx="2304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продукта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17336" y="3255264"/>
            <a:ext cx="2487168" cy="713232"/>
          </a:xfrm>
          <a:prstGeom prst="roundRect">
            <a:avLst>
              <a:gd name="adj" fmla="val 641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3319272"/>
            <a:ext cx="2304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продукта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814816" y="3255264"/>
            <a:ext cx="2487168" cy="713232"/>
          </a:xfrm>
          <a:prstGeom prst="roundRect">
            <a:avLst>
              <a:gd name="adj" fmla="val 641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06256" y="3319272"/>
            <a:ext cx="2304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продукта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22376" y="4169664"/>
            <a:ext cx="4892040" cy="585216"/>
          </a:xfrm>
          <a:prstGeom prst="roundRect">
            <a:avLst>
              <a:gd name="adj" fmla="val 7813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" y="4233672"/>
            <a:ext cx="4709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«Мы изменились и почему»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806440" y="4169664"/>
            <a:ext cx="5440680" cy="585216"/>
          </a:xfrm>
          <a:prstGeom prst="roundRect">
            <a:avLst>
              <a:gd name="adj" fmla="val 7813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4233672"/>
            <a:ext cx="5257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причины / преимущества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2376" y="4956048"/>
            <a:ext cx="5486400" cy="603504"/>
          </a:xfrm>
          <a:prstGeom prst="roundRect">
            <a:avLst>
              <a:gd name="adj" fmla="val 7576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" y="5020056"/>
            <a:ext cx="5303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Кредитный калькулятор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73368" y="4956048"/>
            <a:ext cx="4873752" cy="603504"/>
          </a:xfrm>
          <a:prstGeom prst="roundRect">
            <a:avLst>
              <a:gd name="adj" fmla="val 7576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4808" y="5020056"/>
            <a:ext cx="4690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офисов и банкоматов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22376" y="5760720"/>
            <a:ext cx="7589520" cy="402336"/>
          </a:xfrm>
          <a:prstGeom prst="roundRect">
            <a:avLst>
              <a:gd name="adj" fmla="val 11364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3816" y="5824728"/>
            <a:ext cx="7406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Новости / статьи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476488" y="5760720"/>
            <a:ext cx="2770632" cy="402336"/>
          </a:xfrm>
          <a:prstGeom prst="roundRect">
            <a:avLst>
              <a:gd name="adj" fmla="val 11364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67928" y="5824728"/>
            <a:ext cx="2587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Подписка на спецпредложения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22376" y="6309360"/>
            <a:ext cx="10762488" cy="164592"/>
          </a:xfrm>
          <a:prstGeom prst="roundRect">
            <a:avLst>
              <a:gd name="adj" fmla="val 27778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" y="6373368"/>
            <a:ext cx="10579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Футер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0012680" y="402336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E7E0D6"/>
          </a:solidFill>
          <a:ln w="12700">
            <a:solidFill>
              <a:srgbClr val="E7E0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12680" y="4114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wireframe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43000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Прототип: раскрытое меню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menu группирует продукты по задачам и сокращает навигационное усилие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10996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7D0C7"/>
            </a:solidFill>
            <a:prstDash val="solid"/>
          </a:ln>
          <a:effectLst>
            <a:outerShdw sx="100000" sy="100000" kx="0" ky="0" algn="bl" rotWithShape="0" blurRad="19050" dist="1905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11109960" cy="256032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092708"/>
            <a:ext cx="73152" cy="73152"/>
          </a:xfrm>
          <a:prstGeom prst="ellipse">
            <a:avLst/>
          </a:prstGeom>
          <a:solidFill>
            <a:srgbClr val="D9615C"/>
          </a:solidFill>
          <a:ln w="12700">
            <a:solidFill>
              <a:srgbClr val="D961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092708"/>
            <a:ext cx="73152" cy="73152"/>
          </a:xfrm>
          <a:prstGeom prst="ellipse">
            <a:avLst/>
          </a:prstGeom>
          <a:solidFill>
            <a:srgbClr val="E8C25B"/>
          </a:solidFill>
          <a:ln w="12700">
            <a:solidFill>
              <a:srgbClr val="E8C2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" y="1092708"/>
            <a:ext cx="73152" cy="73152"/>
          </a:xfrm>
          <a:prstGeom prst="ellipse">
            <a:avLst/>
          </a:prstGeom>
          <a:solidFill>
            <a:srgbClr val="5BBF7D"/>
          </a:solidFill>
          <a:ln w="12700">
            <a:solidFill>
              <a:srgbClr val="5BBF7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" y="1261872"/>
            <a:ext cx="11055096" cy="520293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1389888"/>
            <a:ext cx="10762488" cy="384048"/>
          </a:xfrm>
          <a:prstGeom prst="roundRect">
            <a:avLst>
              <a:gd name="adj" fmla="val 11905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" y="1453896"/>
            <a:ext cx="10579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Шапка сайта / пункт меню активен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22376" y="1883664"/>
            <a:ext cx="10762488" cy="987552"/>
          </a:xfrm>
          <a:prstGeom prst="roundRect">
            <a:avLst>
              <a:gd name="adj" fmla="val 463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" y="1947672"/>
            <a:ext cx="10579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Hero-превью под затемнением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41832" y="1764792"/>
            <a:ext cx="10323576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19751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Раскрытое меню / mega menu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43000" y="2286000"/>
            <a:ext cx="1591056" cy="1901952"/>
          </a:xfrm>
          <a:prstGeom prst="roundRect">
            <a:avLst>
              <a:gd name="adj" fmla="val 2874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2350008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Карты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261872" y="2596896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61872" y="2852928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61872" y="3108960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61872" y="3364992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61872" y="3621024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2286000"/>
            <a:ext cx="1591056" cy="1901952"/>
          </a:xfrm>
          <a:prstGeom prst="roundRect">
            <a:avLst>
              <a:gd name="adj" fmla="val 2874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63240" y="2350008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Кредиты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090672" y="2596896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90672" y="2852928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90672" y="3108960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90672" y="3364992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90672" y="3621024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286000"/>
            <a:ext cx="1591056" cy="1901952"/>
          </a:xfrm>
          <a:prstGeom prst="roundRect">
            <a:avLst>
              <a:gd name="adj" fmla="val 2874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350008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919472" y="2596896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19472" y="2852928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19472" y="3108960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19472" y="3364992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19472" y="3621024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29400" y="2286000"/>
            <a:ext cx="1591056" cy="1901952"/>
          </a:xfrm>
          <a:prstGeom prst="roundRect">
            <a:avLst>
              <a:gd name="adj" fmla="val 2874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2350008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Страхование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748272" y="2596896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48272" y="2852928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48272" y="3108960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48272" y="3364992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48272" y="3621024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58200" y="2286000"/>
            <a:ext cx="1591056" cy="1901952"/>
          </a:xfrm>
          <a:prstGeom prst="roundRect">
            <a:avLst>
              <a:gd name="adj" fmla="val 2874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49640" y="2350008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Путешествия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577072" y="2596896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77072" y="2852928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77072" y="3108960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77072" y="3364992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77072" y="3621024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750808" y="2176272"/>
            <a:ext cx="2121408" cy="2148840"/>
          </a:xfrm>
          <a:prstGeom prst="roundRect">
            <a:avLst>
              <a:gd name="adj" fmla="val 2155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42248" y="2240280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Промо-карта / вход в личный кабинет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143000" y="4389120"/>
            <a:ext cx="9226296" cy="384048"/>
          </a:xfrm>
          <a:prstGeom prst="roundRect">
            <a:avLst>
              <a:gd name="adj" fmla="val 11905"/>
            </a:avLst>
          </a:prstGeom>
          <a:solidFill>
            <a:srgbClr val="F0F0F0">
              <a:alpha val="90000"/>
            </a:srgbClr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34440" y="4453128"/>
            <a:ext cx="9043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Быстрые сценарии: оплатить, подобрать, посмотреть офисы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710928" y="402336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E7E0D6"/>
          </a:solidFill>
          <a:ln w="12700">
            <a:solidFill>
              <a:srgbClr val="E7E0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710928" y="411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menu wireframe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143000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Финальная визуализация: desktop homepage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Тон сайта — тёплый premium-tech: современно, дружелюбно, без мультяшной стилистики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384048" y="914400"/>
            <a:ext cx="11411712" cy="566928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7D0C7"/>
            </a:solidFill>
            <a:prstDash val="solid"/>
          </a:ln>
          <a:effectLst>
            <a:outerShdw sx="100000" sy="100000" kx="0" ky="0" algn="bl" rotWithShape="0" blurRad="19050" dist="1905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914400"/>
            <a:ext cx="11411712" cy="256032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001268"/>
            <a:ext cx="73152" cy="73152"/>
          </a:xfrm>
          <a:prstGeom prst="ellipse">
            <a:avLst/>
          </a:prstGeom>
          <a:solidFill>
            <a:srgbClr val="D9615C"/>
          </a:solidFill>
          <a:ln w="12700">
            <a:solidFill>
              <a:srgbClr val="D961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001268"/>
            <a:ext cx="73152" cy="73152"/>
          </a:xfrm>
          <a:prstGeom prst="ellipse">
            <a:avLst/>
          </a:prstGeom>
          <a:solidFill>
            <a:srgbClr val="E8C25B"/>
          </a:solidFill>
          <a:ln w="12700">
            <a:solidFill>
              <a:srgbClr val="E8C2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001268"/>
            <a:ext cx="73152" cy="73152"/>
          </a:xfrm>
          <a:prstGeom prst="ellipse">
            <a:avLst/>
          </a:prstGeom>
          <a:solidFill>
            <a:srgbClr val="5BBF7D"/>
          </a:solidFill>
          <a:ln w="12700">
            <a:solidFill>
              <a:srgbClr val="5BBF7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70432"/>
            <a:ext cx="11356848" cy="5385816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170432"/>
            <a:ext cx="11356848" cy="475488"/>
          </a:xfrm>
          <a:prstGeom prst="rect">
            <a:avLst/>
          </a:prstGeom>
          <a:solidFill>
            <a:srgbClr val="FBF8F4"/>
          </a:solidFill>
          <a:ln w="12700">
            <a:solidFill>
              <a:srgbClr val="FBF8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1243584"/>
            <a:ext cx="292608" cy="292608"/>
          </a:xfrm>
          <a:prstGeom prst="ellipse">
            <a:avLst/>
          </a:prstGeom>
          <a:solidFill>
            <a:srgbClr val="FBF8F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7558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78408" y="1248156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Русский Стандарт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" y="139446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banking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743200" y="131673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Карты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3657600" y="131673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Кредиты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4572000" y="131673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5486400" y="131673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Страхование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6400800" y="131673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Путешествия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10076688" y="1271016"/>
            <a:ext cx="1389888" cy="256032"/>
          </a:xfrm>
          <a:prstGeom prst="roundRect">
            <a:avLst>
              <a:gd name="adj" fmla="val 28571"/>
            </a:avLst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76688" y="128016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 кабинет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" y="1792224"/>
            <a:ext cx="11064240" cy="1389888"/>
          </a:xfrm>
          <a:prstGeom prst="roundRect">
            <a:avLst>
              <a:gd name="adj" fmla="val 7895"/>
            </a:avLst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pic>
        <p:nvPicPr>
          <p:cNvPr id="23" name="Image 0" descr="hero_wide.png">    </p:cNvPr>
          <p:cNvPicPr>
            <a:picLocks noChangeAspect="1"/>
          </p:cNvPicPr>
          <p:nvPr/>
        </p:nvPicPr>
        <p:blipFill>
          <a:blip r:embed="rId1"/>
          <a:srcRect l="0" r="0" t="26774" b="26774"/>
          <a:stretch/>
        </p:blipFill>
        <p:spPr>
          <a:xfrm>
            <a:off x="7242048" y="1828800"/>
            <a:ext cx="4251960" cy="131673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95528" y="204825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Банк, который помогает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планировать жизнь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795528" y="25877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Кредиты, карты, инвестиции, страхование и travel-сервисы в одном понятном цифровом опыте.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95528" y="2871216"/>
            <a:ext cx="1243584" cy="219456"/>
          </a:xfrm>
          <a:prstGeom prst="roundRect">
            <a:avLst>
              <a:gd name="adj" fmla="val 33333"/>
            </a:avLst>
          </a:prstGeom>
          <a:solidFill>
            <a:srgbClr val="C89A5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28803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Подобрать продукт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130552" y="2871216"/>
            <a:ext cx="1188720" cy="219456"/>
          </a:xfrm>
          <a:prstGeom prst="roundRect">
            <a:avLst>
              <a:gd name="adj" fmla="val 33333"/>
            </a:avLst>
          </a:prstGeom>
          <a:solidFill>
            <a:srgbClr val="282D35"/>
          </a:solidFill>
          <a:ln w="12700">
            <a:solidFill>
              <a:srgbClr val="282D3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130552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Посмотреть офисы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95528" y="1865376"/>
            <a:ext cx="932688" cy="182880"/>
          </a:xfrm>
          <a:prstGeom prst="roundRect">
            <a:avLst>
              <a:gd name="adj" fmla="val 40000"/>
            </a:avLst>
          </a:prstGeom>
          <a:solidFill>
            <a:srgbClr val="252B33"/>
          </a:solidFill>
          <a:ln w="12700">
            <a:solidFill>
              <a:srgbClr val="252B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5528" y="187452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версия сайта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0" y="2651760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20252D"/>
          </a:solidFill>
          <a:ln w="12700">
            <a:solidFill>
              <a:srgbClr val="E8E1D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81728" y="2761488"/>
            <a:ext cx="237744" cy="237744"/>
          </a:xfrm>
          <a:prstGeom prst="roundRect">
            <a:avLst>
              <a:gd name="adj" fmla="val 30769"/>
            </a:avLst>
          </a:prstGeom>
          <a:solidFill>
            <a:srgbClr val="C89A5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92624" y="276148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Одобрение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681728" y="307238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мин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5641848" y="2651760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20252D"/>
          </a:solidFill>
          <a:ln w="12700">
            <a:solidFill>
              <a:srgbClr val="E8E1D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751576" y="2761488"/>
            <a:ext cx="237744" cy="237744"/>
          </a:xfrm>
          <a:prstGeom prst="roundRect">
            <a:avLst>
              <a:gd name="adj" fmla="val 30769"/>
            </a:avLst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062472" y="276148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751576" y="307238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-15%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557784" y="33832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Популярные продукты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557784" y="3602736"/>
            <a:ext cx="2596896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7E0D6"/>
            </a:solidFill>
            <a:prstDash val="solid"/>
          </a:ln>
          <a:effectLst>
            <a:outerShdw sx="100000" sy="100000" kx="0" ky="0" algn="bl" rotWithShape="0" blurRad="10160" dist="10160" dir="2700000">
              <a:srgbClr val="000000">
                <a:alpha val="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85800" y="3730752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F2E1C6"/>
          </a:solidFill>
          <a:ln w="12700">
            <a:solidFill>
              <a:srgbClr val="F2E1C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51560" y="3749040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</a:t>
            </a:r>
            <a:endParaRPr lang="en-US" sz="780" dirty="0"/>
          </a:p>
        </p:txBody>
      </p:sp>
      <p:sp>
        <p:nvSpPr>
          <p:cNvPr id="44" name="Text 41"/>
          <p:cNvSpPr/>
          <p:nvPr/>
        </p:nvSpPr>
        <p:spPr>
          <a:xfrm>
            <a:off x="685800" y="4114800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Карты с кешбеком</a:t>
            </a:r>
            <a:endParaRPr lang="en-US" sz="1120" dirty="0"/>
          </a:p>
        </p:txBody>
      </p:sp>
      <p:sp>
        <p:nvSpPr>
          <p:cNvPr id="45" name="Text 42"/>
          <p:cNvSpPr/>
          <p:nvPr/>
        </p:nvSpPr>
        <p:spPr>
          <a:xfrm>
            <a:off x="685800" y="4315968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Категории и бонусы.</a:t>
            </a:r>
            <a:endParaRPr lang="en-US" sz="860" dirty="0"/>
          </a:p>
        </p:txBody>
      </p:sp>
      <p:sp>
        <p:nvSpPr>
          <p:cNvPr id="46" name="Shape 43"/>
          <p:cNvSpPr/>
          <p:nvPr/>
        </p:nvSpPr>
        <p:spPr>
          <a:xfrm>
            <a:off x="685800" y="4206240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F7F2EA"/>
          </a:solidFill>
          <a:ln w="12700">
            <a:solidFill>
              <a:srgbClr val="F7F2E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85800" y="421538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Подробнее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3264408" y="3602736"/>
            <a:ext cx="2596896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7E0D6"/>
            </a:solidFill>
            <a:prstDash val="solid"/>
          </a:ln>
          <a:effectLst>
            <a:outerShdw sx="100000" sy="100000" kx="0" ky="0" algn="bl" rotWithShape="0" blurRad="10160" dist="10160" dir="2700000">
              <a:srgbClr val="000000">
                <a:alpha val="8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3392424" y="3730752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E1DBFF"/>
          </a:solidFill>
          <a:ln w="12700">
            <a:solidFill>
              <a:srgbClr val="E1DBF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758184" y="3749040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780" dirty="0"/>
          </a:p>
        </p:txBody>
      </p:sp>
      <p:sp>
        <p:nvSpPr>
          <p:cNvPr id="51" name="Text 48"/>
          <p:cNvSpPr/>
          <p:nvPr/>
        </p:nvSpPr>
        <p:spPr>
          <a:xfrm>
            <a:off x="3392424" y="4114800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 наличными</a:t>
            </a:r>
            <a:endParaRPr lang="en-US" sz="1120" dirty="0"/>
          </a:p>
        </p:txBody>
      </p:sp>
      <p:sp>
        <p:nvSpPr>
          <p:cNvPr id="52" name="Text 49"/>
          <p:cNvSpPr/>
          <p:nvPr/>
        </p:nvSpPr>
        <p:spPr>
          <a:xfrm>
            <a:off x="3392424" y="4315968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и подача онлайн.</a:t>
            </a:r>
            <a:endParaRPr lang="en-US" sz="860" dirty="0"/>
          </a:p>
        </p:txBody>
      </p:sp>
      <p:sp>
        <p:nvSpPr>
          <p:cNvPr id="53" name="Shape 50"/>
          <p:cNvSpPr/>
          <p:nvPr/>
        </p:nvSpPr>
        <p:spPr>
          <a:xfrm>
            <a:off x="3392424" y="4206240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F7F2EA"/>
          </a:solidFill>
          <a:ln w="12700">
            <a:solidFill>
              <a:srgbClr val="F7F2E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392424" y="421538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Подробнее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5971032" y="3602736"/>
            <a:ext cx="2596896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7E0D6"/>
            </a:solidFill>
            <a:prstDash val="solid"/>
          </a:ln>
          <a:effectLst>
            <a:outerShdw sx="100000" sy="100000" kx="0" ky="0" algn="bl" rotWithShape="0" blurRad="10160" dist="10160" dir="2700000">
              <a:srgbClr val="000000">
                <a:alpha val="8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6099048" y="3730752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DDF3EC"/>
          </a:solidFill>
          <a:ln w="12700">
            <a:solidFill>
              <a:srgbClr val="DDF3E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464808" y="3749040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</a:t>
            </a:r>
            <a:endParaRPr lang="en-US" sz="780" dirty="0"/>
          </a:p>
        </p:txBody>
      </p:sp>
      <p:sp>
        <p:nvSpPr>
          <p:cNvPr id="58" name="Text 55"/>
          <p:cNvSpPr/>
          <p:nvPr/>
        </p:nvSpPr>
        <p:spPr>
          <a:xfrm>
            <a:off x="6099048" y="4114800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</a:t>
            </a:r>
            <a:endParaRPr lang="en-US" sz="1120" dirty="0"/>
          </a:p>
        </p:txBody>
      </p:sp>
      <p:sp>
        <p:nvSpPr>
          <p:cNvPr id="59" name="Text 56"/>
          <p:cNvSpPr/>
          <p:nvPr/>
        </p:nvSpPr>
        <p:spPr>
          <a:xfrm>
            <a:off x="6099048" y="4315968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Портфель и стратегии.</a:t>
            </a:r>
            <a:endParaRPr lang="en-US" sz="860" dirty="0"/>
          </a:p>
        </p:txBody>
      </p:sp>
      <p:sp>
        <p:nvSpPr>
          <p:cNvPr id="60" name="Shape 57"/>
          <p:cNvSpPr/>
          <p:nvPr/>
        </p:nvSpPr>
        <p:spPr>
          <a:xfrm>
            <a:off x="6099048" y="4206240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F7F2EA"/>
          </a:solidFill>
          <a:ln w="12700">
            <a:solidFill>
              <a:srgbClr val="F7F2E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099048" y="421538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Подробнее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8677656" y="3602736"/>
            <a:ext cx="2596896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7E0D6"/>
            </a:solidFill>
            <a:prstDash val="solid"/>
          </a:ln>
          <a:effectLst>
            <a:outerShdw sx="100000" sy="100000" kx="0" ky="0" algn="bl" rotWithShape="0" blurRad="10160" dist="10160" dir="2700000">
              <a:srgbClr val="000000">
                <a:alpha val="8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8805672" y="3730752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F3E6D7"/>
          </a:solidFill>
          <a:ln w="12700">
            <a:solidFill>
              <a:srgbClr val="F3E6D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171432" y="3749040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</a:t>
            </a:r>
            <a:endParaRPr lang="en-US" sz="780" dirty="0"/>
          </a:p>
        </p:txBody>
      </p:sp>
      <p:sp>
        <p:nvSpPr>
          <p:cNvPr id="65" name="Text 62"/>
          <p:cNvSpPr/>
          <p:nvPr/>
        </p:nvSpPr>
        <p:spPr>
          <a:xfrm>
            <a:off x="8805672" y="4114800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Путешествия</a:t>
            </a:r>
            <a:endParaRPr lang="en-US" sz="1120" dirty="0"/>
          </a:p>
        </p:txBody>
      </p:sp>
      <p:sp>
        <p:nvSpPr>
          <p:cNvPr id="66" name="Text 63"/>
          <p:cNvSpPr/>
          <p:nvPr/>
        </p:nvSpPr>
        <p:spPr>
          <a:xfrm>
            <a:off x="8805672" y="4315968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Билеты и страховка.</a:t>
            </a:r>
            <a:endParaRPr lang="en-US" sz="860" dirty="0"/>
          </a:p>
        </p:txBody>
      </p:sp>
      <p:sp>
        <p:nvSpPr>
          <p:cNvPr id="67" name="Shape 64"/>
          <p:cNvSpPr/>
          <p:nvPr/>
        </p:nvSpPr>
        <p:spPr>
          <a:xfrm>
            <a:off x="8805672" y="4206240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F7F2EA"/>
          </a:solidFill>
          <a:ln w="12700">
            <a:solidFill>
              <a:srgbClr val="F7F2EA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8805672" y="421538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Подробнее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557784" y="4590288"/>
            <a:ext cx="43159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7E0D6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58952" y="4791456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изменились: теперь банк читается как сервис для повседневных сценариев.</a:t>
            </a:r>
            <a:endParaRPr lang="en-US" sz="1250" dirty="0"/>
          </a:p>
        </p:txBody>
      </p:sp>
      <p:sp>
        <p:nvSpPr>
          <p:cNvPr id="71" name="Shape 68"/>
          <p:cNvSpPr/>
          <p:nvPr/>
        </p:nvSpPr>
        <p:spPr>
          <a:xfrm>
            <a:off x="758952" y="4974336"/>
            <a:ext cx="841248" cy="164592"/>
          </a:xfrm>
          <a:prstGeom prst="roundRect">
            <a:avLst>
              <a:gd name="adj" fmla="val 44444"/>
            </a:avLst>
          </a:prstGeom>
          <a:solidFill>
            <a:srgbClr val="E8D2AF"/>
          </a:solidFill>
          <a:ln w="12700">
            <a:solidFill>
              <a:srgbClr val="E8D2AF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58952" y="498348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технологично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1719072" y="4974336"/>
            <a:ext cx="841248" cy="164592"/>
          </a:xfrm>
          <a:prstGeom prst="roundRect">
            <a:avLst>
              <a:gd name="adj" fmla="val 44444"/>
            </a:avLst>
          </a:prstGeom>
          <a:solidFill>
            <a:srgbClr val="DDD9FF"/>
          </a:solidFill>
          <a:ln w="12700">
            <a:solidFill>
              <a:srgbClr val="DDD9FF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1719072" y="498348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дружелюбно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2679192" y="4974336"/>
            <a:ext cx="841248" cy="164592"/>
          </a:xfrm>
          <a:prstGeom prst="roundRect">
            <a:avLst>
              <a:gd name="adj" fmla="val 44444"/>
            </a:avLst>
          </a:prstGeom>
          <a:solidFill>
            <a:srgbClr val="E8D2AF"/>
          </a:solidFill>
          <a:ln w="12700">
            <a:solidFill>
              <a:srgbClr val="E8D2AF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2679192" y="498348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масштабируемо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5020056" y="4590288"/>
            <a:ext cx="32918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7E0D6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202936" y="477316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Кредитный калькулятор</a:t>
            </a:r>
            <a:endParaRPr lang="en-US" sz="1250" dirty="0"/>
          </a:p>
        </p:txBody>
      </p:sp>
      <p:sp>
        <p:nvSpPr>
          <p:cNvPr id="79" name="Shape 76"/>
          <p:cNvSpPr/>
          <p:nvPr/>
        </p:nvSpPr>
        <p:spPr>
          <a:xfrm>
            <a:off x="5202936" y="4992624"/>
            <a:ext cx="1700784" cy="73152"/>
          </a:xfrm>
          <a:prstGeom prst="roundRect">
            <a:avLst>
              <a:gd name="adj" fmla="val 50000"/>
            </a:avLst>
          </a:prstGeom>
          <a:solidFill>
            <a:srgbClr val="E6DECF"/>
          </a:solidFill>
          <a:ln w="12700">
            <a:solidFill>
              <a:srgbClr val="E6DECF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5202936" y="4992624"/>
            <a:ext cx="1042416" cy="73152"/>
          </a:xfrm>
          <a:prstGeom prst="roundRect">
            <a:avLst>
              <a:gd name="adj" fmla="val 50000"/>
            </a:avLst>
          </a:prstGeom>
          <a:solidFill>
            <a:srgbClr val="C89A5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050024" y="4736592"/>
            <a:ext cx="1060704" cy="493776"/>
          </a:xfrm>
          <a:prstGeom prst="roundRect">
            <a:avLst>
              <a:gd name="adj" fmla="val 14815"/>
            </a:avLst>
          </a:prstGeom>
          <a:solidFill>
            <a:srgbClr val="FAF6F0"/>
          </a:solidFill>
          <a:ln w="12700">
            <a:solidFill>
              <a:srgbClr val="E8E1D7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159752" y="4846320"/>
            <a:ext cx="237744" cy="237744"/>
          </a:xfrm>
          <a:prstGeom prst="roundRect">
            <a:avLst>
              <a:gd name="adj" fmla="val 30769"/>
            </a:avLst>
          </a:prstGeom>
          <a:solidFill>
            <a:srgbClr val="C89A5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7470648" y="48463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Платёж</a:t>
            </a:r>
            <a:endParaRPr lang="en-US" sz="1000" dirty="0"/>
          </a:p>
        </p:txBody>
      </p:sp>
      <p:sp>
        <p:nvSpPr>
          <p:cNvPr id="84" name="Text 81"/>
          <p:cNvSpPr/>
          <p:nvPr/>
        </p:nvSpPr>
        <p:spPr>
          <a:xfrm>
            <a:off x="7159752" y="515721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25 700 ₽</a:t>
            </a:r>
            <a:endParaRPr lang="en-US" sz="1800" dirty="0"/>
          </a:p>
        </p:txBody>
      </p:sp>
      <p:sp>
        <p:nvSpPr>
          <p:cNvPr id="85" name="Shape 82"/>
          <p:cNvSpPr/>
          <p:nvPr/>
        </p:nvSpPr>
        <p:spPr>
          <a:xfrm>
            <a:off x="8476488" y="4590288"/>
            <a:ext cx="2798064" cy="804672"/>
          </a:xfrm>
          <a:prstGeom prst="roundRect">
            <a:avLst>
              <a:gd name="adj" fmla="val 11364"/>
            </a:avLst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8677656" y="477316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Офисы и банкоматы</a:t>
            </a:r>
            <a:endParaRPr lang="en-US" sz="1250" dirty="0"/>
          </a:p>
        </p:txBody>
      </p:sp>
      <p:sp>
        <p:nvSpPr>
          <p:cNvPr id="87" name="Shape 84"/>
          <p:cNvSpPr/>
          <p:nvPr/>
        </p:nvSpPr>
        <p:spPr>
          <a:xfrm>
            <a:off x="8695944" y="4974336"/>
            <a:ext cx="2359152" cy="256032"/>
          </a:xfrm>
          <a:prstGeom prst="roundRect">
            <a:avLst>
              <a:gd name="adj" fmla="val 21429"/>
            </a:avLst>
          </a:prstGeom>
          <a:solidFill>
            <a:srgbClr val="1B2129"/>
          </a:solidFill>
          <a:ln w="12700">
            <a:solidFill>
              <a:srgbClr val="303743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9006840" y="5038344"/>
            <a:ext cx="73152" cy="73152"/>
          </a:xfrm>
          <a:prstGeom prst="ellipse">
            <a:avLst/>
          </a:prstGeom>
          <a:solidFill>
            <a:srgbClr val="C89A5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9537192" y="5138928"/>
            <a:ext cx="73152" cy="73152"/>
          </a:xfrm>
          <a:prstGeom prst="ellipse">
            <a:avLst/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10085832" y="4992624"/>
            <a:ext cx="73152" cy="73152"/>
          </a:xfrm>
          <a:prstGeom prst="ellipse">
            <a:avLst/>
          </a:prstGeom>
          <a:solidFill>
            <a:srgbClr val="1E9B78"/>
          </a:solidFill>
          <a:ln w="12700">
            <a:solidFill>
              <a:srgbClr val="1E9B78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57784" y="561441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Новости</a:t>
            </a:r>
            <a:endParaRPr lang="en-US" sz="1300" dirty="0"/>
          </a:p>
        </p:txBody>
      </p:sp>
      <p:sp>
        <p:nvSpPr>
          <p:cNvPr id="92" name="Shape 89"/>
          <p:cNvSpPr/>
          <p:nvPr/>
        </p:nvSpPr>
        <p:spPr>
          <a:xfrm>
            <a:off x="557784" y="5815584"/>
            <a:ext cx="221284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7E0D6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704088" y="5943600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ехать весной</a:t>
            </a:r>
            <a:endParaRPr lang="en-US" sz="960" dirty="0"/>
          </a:p>
        </p:txBody>
      </p:sp>
      <p:sp>
        <p:nvSpPr>
          <p:cNvPr id="94" name="Shape 91"/>
          <p:cNvSpPr/>
          <p:nvPr/>
        </p:nvSpPr>
        <p:spPr>
          <a:xfrm>
            <a:off x="2990088" y="5815584"/>
            <a:ext cx="221284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7E0D6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3136392" y="5943600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выбрать кредит</a:t>
            </a:r>
            <a:endParaRPr lang="en-US" sz="960" dirty="0"/>
          </a:p>
        </p:txBody>
      </p:sp>
      <p:sp>
        <p:nvSpPr>
          <p:cNvPr id="96" name="Shape 93"/>
          <p:cNvSpPr/>
          <p:nvPr/>
        </p:nvSpPr>
        <p:spPr>
          <a:xfrm>
            <a:off x="5422392" y="5815584"/>
            <a:ext cx="221284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7E0D6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568696" y="5943600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консервативная стратегия</a:t>
            </a:r>
            <a:endParaRPr lang="en-US" sz="960" dirty="0"/>
          </a:p>
        </p:txBody>
      </p:sp>
      <p:sp>
        <p:nvSpPr>
          <p:cNvPr id="98" name="Shape 95"/>
          <p:cNvSpPr/>
          <p:nvPr/>
        </p:nvSpPr>
        <p:spPr>
          <a:xfrm>
            <a:off x="8019288" y="5815584"/>
            <a:ext cx="3255264" cy="420624"/>
          </a:xfrm>
          <a:prstGeom prst="roundRect">
            <a:avLst>
              <a:gd name="adj" fmla="val 17391"/>
            </a:avLst>
          </a:prstGeom>
          <a:solidFill>
            <a:srgbClr val="FFF6EA"/>
          </a:solidFill>
          <a:ln w="12700">
            <a:solidFill>
              <a:srgbClr val="EFD7B7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8202168" y="5943600"/>
            <a:ext cx="16642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Подписка на специальные предложения</a:t>
            </a:r>
            <a:endParaRPr lang="en-US" sz="960" dirty="0"/>
          </a:p>
        </p:txBody>
      </p:sp>
      <p:sp>
        <p:nvSpPr>
          <p:cNvPr id="100" name="Shape 97"/>
          <p:cNvSpPr/>
          <p:nvPr/>
        </p:nvSpPr>
        <p:spPr>
          <a:xfrm>
            <a:off x="10232136" y="5897880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C89A5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10232136" y="590702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Оставить email</a:t>
            </a:r>
            <a:endParaRPr lang="en-US" sz="1100" dirty="0"/>
          </a:p>
        </p:txBody>
      </p:sp>
      <p:sp>
        <p:nvSpPr>
          <p:cNvPr id="102" name="Shape 99"/>
          <p:cNvSpPr/>
          <p:nvPr/>
        </p:nvSpPr>
        <p:spPr>
          <a:xfrm>
            <a:off x="411480" y="6391656"/>
            <a:ext cx="11356848" cy="164592"/>
          </a:xfrm>
          <a:prstGeom prst="rect">
            <a:avLst/>
          </a:prstGeom>
          <a:solidFill>
            <a:srgbClr val="F2EDE6"/>
          </a:solidFill>
          <a:ln w="12700">
            <a:solidFill>
              <a:srgbClr val="F2EDE6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667512" y="6423660"/>
            <a:ext cx="34747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банке · Документы · Поддержка · Соцсети</a:t>
            </a:r>
            <a:endParaRPr lang="en-US" sz="720" dirty="0"/>
          </a:p>
        </p:txBody>
      </p:sp>
      <p:sp>
        <p:nvSpPr>
          <p:cNvPr id="104" name="Shape 101"/>
          <p:cNvSpPr/>
          <p:nvPr/>
        </p:nvSpPr>
        <p:spPr>
          <a:xfrm>
            <a:off x="10241280" y="384048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E8D2AF"/>
          </a:solidFill>
          <a:ln w="12700">
            <a:solidFill>
              <a:srgbClr val="E8D2AF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0241280" y="3931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final</a:t>
            </a:r>
            <a:endParaRPr lang="en-US" sz="1100" dirty="0"/>
          </a:p>
        </p:txBody>
      </p:sp>
      <p:sp>
        <p:nvSpPr>
          <p:cNvPr id="106" name="Text 103"/>
          <p:cNvSpPr/>
          <p:nvPr/>
        </p:nvSpPr>
        <p:spPr>
          <a:xfrm>
            <a:off x="1143000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Финальная визуализация: раскрытое меню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Меню работает как каталог сценариев и удерживает продуктовую ширину бренда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384048" y="914400"/>
            <a:ext cx="11411712" cy="566928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7D0C7"/>
            </a:solidFill>
            <a:prstDash val="solid"/>
          </a:ln>
          <a:effectLst>
            <a:outerShdw sx="100000" sy="100000" kx="0" ky="0" algn="bl" rotWithShape="0" blurRad="19050" dist="1905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914400"/>
            <a:ext cx="11411712" cy="256032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001268"/>
            <a:ext cx="73152" cy="73152"/>
          </a:xfrm>
          <a:prstGeom prst="ellipse">
            <a:avLst/>
          </a:prstGeom>
          <a:solidFill>
            <a:srgbClr val="D9615C"/>
          </a:solidFill>
          <a:ln w="12700">
            <a:solidFill>
              <a:srgbClr val="D961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001268"/>
            <a:ext cx="73152" cy="73152"/>
          </a:xfrm>
          <a:prstGeom prst="ellipse">
            <a:avLst/>
          </a:prstGeom>
          <a:solidFill>
            <a:srgbClr val="E8C25B"/>
          </a:solidFill>
          <a:ln w="12700">
            <a:solidFill>
              <a:srgbClr val="E8C2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001268"/>
            <a:ext cx="73152" cy="73152"/>
          </a:xfrm>
          <a:prstGeom prst="ellipse">
            <a:avLst/>
          </a:prstGeom>
          <a:solidFill>
            <a:srgbClr val="5BBF7D"/>
          </a:solidFill>
          <a:ln w="12700">
            <a:solidFill>
              <a:srgbClr val="5BBF7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70432"/>
            <a:ext cx="11356848" cy="5385816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170432"/>
            <a:ext cx="11356848" cy="475488"/>
          </a:xfrm>
          <a:prstGeom prst="rect">
            <a:avLst/>
          </a:prstGeom>
          <a:solidFill>
            <a:srgbClr val="FBF8F4"/>
          </a:solidFill>
          <a:ln w="12700">
            <a:solidFill>
              <a:srgbClr val="FBF8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1243584"/>
            <a:ext cx="292608" cy="292608"/>
          </a:xfrm>
          <a:prstGeom prst="ellipse">
            <a:avLst/>
          </a:prstGeom>
          <a:solidFill>
            <a:srgbClr val="FBF8F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7558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78408" y="1248156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Русский Стандарт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" y="139446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banking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743200" y="131673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Карты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0" y="131673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Кредиты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0" y="131673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0" y="131673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Страхование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131673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Путешествия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76688" y="1271016"/>
            <a:ext cx="1389888" cy="256032"/>
          </a:xfrm>
          <a:prstGeom prst="roundRect">
            <a:avLst>
              <a:gd name="adj" fmla="val 28571"/>
            </a:avLst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76688" y="128016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 кабинет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" y="1792224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12161C"/>
          </a:solidFill>
          <a:ln w="12700">
            <a:solidFill>
              <a:srgbClr val="12161C"/>
            </a:solidFill>
            <a:prstDash val="solid"/>
          </a:ln>
        </p:spPr>
      </p:sp>
      <p:pic>
        <p:nvPicPr>
          <p:cNvPr id="23" name="Image 0" descr="hero_wide.png">    </p:cNvPr>
          <p:cNvPicPr>
            <a:picLocks noChangeAspect="1"/>
          </p:cNvPicPr>
          <p:nvPr/>
        </p:nvPicPr>
        <p:blipFill>
          <a:blip r:embed="rId1"/>
          <a:srcRect l="0" r="0" t="19492" b="19492"/>
          <a:stretch/>
        </p:blipFill>
        <p:spPr>
          <a:xfrm>
            <a:off x="7150608" y="1828800"/>
            <a:ext cx="4315968" cy="1755648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7784" y="1792224"/>
            <a:ext cx="11064240" cy="1828800"/>
          </a:xfrm>
          <a:prstGeom prst="rect">
            <a:avLst/>
          </a:prstGeom>
          <a:solidFill>
            <a:srgbClr val="0E1116">
              <a:alpha val="55000"/>
            </a:srgbClr>
          </a:solidFill>
          <a:ln w="12700">
            <a:solidFill>
              <a:srgbClr val="0E1116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5528" y="2176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Подобрать кредит или карту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795528" y="25237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C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продукты доступны из каталога ниже.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95528" y="1682496"/>
            <a:ext cx="10588752" cy="4187952"/>
          </a:xfrm>
          <a:prstGeom prst="roundRect">
            <a:avLst>
              <a:gd name="adj" fmla="val 2620"/>
            </a:avLst>
          </a:prstGeom>
          <a:solidFill>
            <a:srgbClr val="FFFFFF"/>
          </a:solidFill>
          <a:ln w="12700">
            <a:solidFill>
              <a:srgbClr val="E7E0D6"/>
            </a:solidFill>
            <a:prstDash val="solid"/>
          </a:ln>
          <a:effectLst>
            <a:outerShdw sx="100000" sy="100000" kx="0" ky="0" algn="bl" rotWithShape="0" blurRad="19050" dist="19050" dir="27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069848" y="19202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сервисов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2350008" y="1892808"/>
            <a:ext cx="749808" cy="201168"/>
          </a:xfrm>
          <a:prstGeom prst="roundRect">
            <a:avLst>
              <a:gd name="adj" fmla="val 36364"/>
            </a:avLst>
          </a:prstGeom>
          <a:solidFill>
            <a:srgbClr val="E8D2AF"/>
          </a:solidFill>
          <a:ln w="12700">
            <a:solidFill>
              <a:srgbClr val="E8D2A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350008" y="190195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жизни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069848" y="2249424"/>
            <a:ext cx="1755648" cy="2176272"/>
          </a:xfrm>
          <a:prstGeom prst="roundRect">
            <a:avLst>
              <a:gd name="adj" fmla="val 4167"/>
            </a:avLst>
          </a:prstGeom>
          <a:solidFill>
            <a:srgbClr val="FAF7F2"/>
          </a:solidFill>
          <a:ln w="12700">
            <a:solidFill>
              <a:srgbClr val="EAE3D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34440" y="24688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234440" y="276148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Дебетовые карты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1234440" y="307238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Кредитные карты</a:t>
            </a:r>
            <a:endParaRPr lang="en-US" sz="1020" dirty="0"/>
          </a:p>
        </p:txBody>
      </p:sp>
      <p:sp>
        <p:nvSpPr>
          <p:cNvPr id="35" name="Text 32"/>
          <p:cNvSpPr/>
          <p:nvPr/>
        </p:nvSpPr>
        <p:spPr>
          <a:xfrm>
            <a:off x="1234440" y="338328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Кредиты наличными</a:t>
            </a:r>
            <a:endParaRPr lang="en-US" sz="1020" dirty="0"/>
          </a:p>
        </p:txBody>
      </p:sp>
      <p:sp>
        <p:nvSpPr>
          <p:cNvPr id="36" name="Text 33"/>
          <p:cNvSpPr/>
          <p:nvPr/>
        </p:nvSpPr>
        <p:spPr>
          <a:xfrm>
            <a:off x="1234440" y="369417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Рефинансирование</a:t>
            </a:r>
            <a:endParaRPr lang="en-US" sz="1020" dirty="0"/>
          </a:p>
        </p:txBody>
      </p:sp>
      <p:sp>
        <p:nvSpPr>
          <p:cNvPr id="37" name="Text 34"/>
          <p:cNvSpPr/>
          <p:nvPr/>
        </p:nvSpPr>
        <p:spPr>
          <a:xfrm>
            <a:off x="1234440" y="400507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Кешбек-программы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3136392" y="2249424"/>
            <a:ext cx="1755648" cy="2176272"/>
          </a:xfrm>
          <a:prstGeom prst="roundRect">
            <a:avLst>
              <a:gd name="adj" fmla="val 4167"/>
            </a:avLst>
          </a:prstGeom>
          <a:solidFill>
            <a:srgbClr val="F8F5FF"/>
          </a:solidFill>
          <a:ln w="12700">
            <a:solidFill>
              <a:srgbClr val="EAE3D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300984" y="24688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3300984" y="276148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Стратегии</a:t>
            </a:r>
            <a:endParaRPr lang="en-US" sz="1020" dirty="0"/>
          </a:p>
        </p:txBody>
      </p:sp>
      <p:sp>
        <p:nvSpPr>
          <p:cNvPr id="41" name="Text 38"/>
          <p:cNvSpPr/>
          <p:nvPr/>
        </p:nvSpPr>
        <p:spPr>
          <a:xfrm>
            <a:off x="3300984" y="307238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Брокерский доступ</a:t>
            </a:r>
            <a:endParaRPr lang="en-US" sz="1020" dirty="0"/>
          </a:p>
        </p:txBody>
      </p:sp>
      <p:sp>
        <p:nvSpPr>
          <p:cNvPr id="42" name="Text 39"/>
          <p:cNvSpPr/>
          <p:nvPr/>
        </p:nvSpPr>
        <p:spPr>
          <a:xfrm>
            <a:off x="3300984" y="338328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Сбережения</a:t>
            </a:r>
            <a:endParaRPr lang="en-US" sz="1020" dirty="0"/>
          </a:p>
        </p:txBody>
      </p:sp>
      <p:sp>
        <p:nvSpPr>
          <p:cNvPr id="43" name="Text 40"/>
          <p:cNvSpPr/>
          <p:nvPr/>
        </p:nvSpPr>
        <p:spPr>
          <a:xfrm>
            <a:off x="3300984" y="369417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портфеля</a:t>
            </a:r>
            <a:endParaRPr lang="en-US" sz="1020" dirty="0"/>
          </a:p>
        </p:txBody>
      </p:sp>
      <p:sp>
        <p:nvSpPr>
          <p:cNvPr id="44" name="Text 41"/>
          <p:cNvSpPr/>
          <p:nvPr/>
        </p:nvSpPr>
        <p:spPr>
          <a:xfrm>
            <a:off x="3300984" y="400507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</a:t>
            </a:r>
            <a:endParaRPr lang="en-US" sz="1020" dirty="0"/>
          </a:p>
        </p:txBody>
      </p:sp>
      <p:sp>
        <p:nvSpPr>
          <p:cNvPr id="45" name="Shape 42"/>
          <p:cNvSpPr/>
          <p:nvPr/>
        </p:nvSpPr>
        <p:spPr>
          <a:xfrm>
            <a:off x="5202936" y="2249424"/>
            <a:ext cx="1755648" cy="2176272"/>
          </a:xfrm>
          <a:prstGeom prst="roundRect">
            <a:avLst>
              <a:gd name="adj" fmla="val 4167"/>
            </a:avLst>
          </a:prstGeom>
          <a:solidFill>
            <a:srgbClr val="FAF7F2"/>
          </a:solidFill>
          <a:ln w="12700">
            <a:solidFill>
              <a:srgbClr val="EAE3D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67528" y="24688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5367528" y="276148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Страхование жизни</a:t>
            </a:r>
            <a:endParaRPr lang="en-US" sz="1020" dirty="0"/>
          </a:p>
        </p:txBody>
      </p:sp>
      <p:sp>
        <p:nvSpPr>
          <p:cNvPr id="48" name="Text 45"/>
          <p:cNvSpPr/>
          <p:nvPr/>
        </p:nvSpPr>
        <p:spPr>
          <a:xfrm>
            <a:off x="5367528" y="307238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Путешествия</a:t>
            </a:r>
            <a:endParaRPr lang="en-US" sz="1020" dirty="0"/>
          </a:p>
        </p:txBody>
      </p:sp>
      <p:sp>
        <p:nvSpPr>
          <p:cNvPr id="49" name="Text 46"/>
          <p:cNvSpPr/>
          <p:nvPr/>
        </p:nvSpPr>
        <p:spPr>
          <a:xfrm>
            <a:off x="5367528" y="338328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покупок</a:t>
            </a:r>
            <a:endParaRPr lang="en-US" sz="1020" dirty="0"/>
          </a:p>
        </p:txBody>
      </p:sp>
      <p:sp>
        <p:nvSpPr>
          <p:cNvPr id="50" name="Text 47"/>
          <p:cNvSpPr/>
          <p:nvPr/>
        </p:nvSpPr>
        <p:spPr>
          <a:xfrm>
            <a:off x="5367528" y="369417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Медицина</a:t>
            </a:r>
            <a:endParaRPr lang="en-US" sz="1020" dirty="0"/>
          </a:p>
        </p:txBody>
      </p:sp>
      <p:sp>
        <p:nvSpPr>
          <p:cNvPr id="51" name="Text 48"/>
          <p:cNvSpPr/>
          <p:nvPr/>
        </p:nvSpPr>
        <p:spPr>
          <a:xfrm>
            <a:off x="5367528" y="400507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Помощь в поездке</a:t>
            </a:r>
            <a:endParaRPr lang="en-US" sz="1020" dirty="0"/>
          </a:p>
        </p:txBody>
      </p:sp>
      <p:sp>
        <p:nvSpPr>
          <p:cNvPr id="52" name="Shape 49"/>
          <p:cNvSpPr/>
          <p:nvPr/>
        </p:nvSpPr>
        <p:spPr>
          <a:xfrm>
            <a:off x="7269480" y="2249424"/>
            <a:ext cx="1755648" cy="2176272"/>
          </a:xfrm>
          <a:prstGeom prst="roundRect">
            <a:avLst>
              <a:gd name="adj" fmla="val 4167"/>
            </a:avLst>
          </a:prstGeom>
          <a:solidFill>
            <a:srgbClr val="F8F5FF"/>
          </a:solidFill>
          <a:ln w="12700">
            <a:solidFill>
              <a:srgbClr val="EAE3D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434072" y="24688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7434072" y="276148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Онлайн-банк</a:t>
            </a:r>
            <a:endParaRPr lang="en-US" sz="1020" dirty="0"/>
          </a:p>
        </p:txBody>
      </p:sp>
      <p:sp>
        <p:nvSpPr>
          <p:cNvPr id="55" name="Text 52"/>
          <p:cNvSpPr/>
          <p:nvPr/>
        </p:nvSpPr>
        <p:spPr>
          <a:xfrm>
            <a:off x="7434072" y="307238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Платежи и переводы</a:t>
            </a:r>
            <a:endParaRPr lang="en-US" sz="1020" dirty="0"/>
          </a:p>
        </p:txBody>
      </p:sp>
      <p:sp>
        <p:nvSpPr>
          <p:cNvPr id="56" name="Text 53"/>
          <p:cNvSpPr/>
          <p:nvPr/>
        </p:nvSpPr>
        <p:spPr>
          <a:xfrm>
            <a:off x="7434072" y="338328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Офисы и банкоматы</a:t>
            </a:r>
            <a:endParaRPr lang="en-US" sz="1020" dirty="0"/>
          </a:p>
        </p:txBody>
      </p:sp>
      <p:sp>
        <p:nvSpPr>
          <p:cNvPr id="57" name="Text 54"/>
          <p:cNvSpPr/>
          <p:nvPr/>
        </p:nvSpPr>
        <p:spPr>
          <a:xfrm>
            <a:off x="7434072" y="369417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Поддержка 24/7</a:t>
            </a:r>
            <a:endParaRPr lang="en-US" sz="1020" dirty="0"/>
          </a:p>
        </p:txBody>
      </p:sp>
      <p:sp>
        <p:nvSpPr>
          <p:cNvPr id="58" name="Text 55"/>
          <p:cNvSpPr/>
          <p:nvPr/>
        </p:nvSpPr>
        <p:spPr>
          <a:xfrm>
            <a:off x="7434072" y="400507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</a:t>
            </a:r>
            <a:endParaRPr lang="en-US" sz="1020" dirty="0"/>
          </a:p>
        </p:txBody>
      </p:sp>
      <p:sp>
        <p:nvSpPr>
          <p:cNvPr id="59" name="Shape 56"/>
          <p:cNvSpPr/>
          <p:nvPr/>
        </p:nvSpPr>
        <p:spPr>
          <a:xfrm>
            <a:off x="9354312" y="2249424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pic>
        <p:nvPicPr>
          <p:cNvPr id="60" name="Image 1" descr="hero_vertical.png">    </p:cNvPr>
          <p:cNvPicPr>
            <a:picLocks noChangeAspect="1"/>
          </p:cNvPicPr>
          <p:nvPr/>
        </p:nvPicPr>
        <p:blipFill>
          <a:blip r:embed="rId2"/>
          <a:srcRect l="0" r="0" t="16667" b="16667"/>
          <a:stretch/>
        </p:blipFill>
        <p:spPr>
          <a:xfrm>
            <a:off x="10634472" y="2249424"/>
            <a:ext cx="1371600" cy="1371600"/>
          </a:xfrm>
          <a:prstGeom prst="rect">
            <a:avLst/>
          </a:prstGeom>
        </p:spPr>
      </p:pic>
      <p:sp>
        <p:nvSpPr>
          <p:cNvPr id="61" name="Text 57"/>
          <p:cNvSpPr/>
          <p:nvPr/>
        </p:nvSpPr>
        <p:spPr>
          <a:xfrm>
            <a:off x="9573768" y="246888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и lifestyle</a:t>
            </a:r>
            <a:endParaRPr lang="en-US" sz="1300" dirty="0"/>
          </a:p>
        </p:txBody>
      </p:sp>
      <p:sp>
        <p:nvSpPr>
          <p:cNvPr id="62" name="Text 58"/>
          <p:cNvSpPr/>
          <p:nvPr/>
        </p:nvSpPr>
        <p:spPr>
          <a:xfrm>
            <a:off x="9573768" y="274320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D3C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Бронируйте поездки и добавляйте страховку в том же цифровом контуре.</a:t>
            </a:r>
            <a:endParaRPr lang="en-US" sz="1020" dirty="0"/>
          </a:p>
        </p:txBody>
      </p:sp>
      <p:sp>
        <p:nvSpPr>
          <p:cNvPr id="63" name="Shape 59"/>
          <p:cNvSpPr/>
          <p:nvPr/>
        </p:nvSpPr>
        <p:spPr>
          <a:xfrm>
            <a:off x="9354312" y="3803904"/>
            <a:ext cx="2651760" cy="1078992"/>
          </a:xfrm>
          <a:prstGeom prst="roundRect">
            <a:avLst>
              <a:gd name="adj" fmla="val 8475"/>
            </a:avLst>
          </a:prstGeom>
          <a:solidFill>
            <a:srgbClr val="FFF6EA"/>
          </a:solidFill>
          <a:ln w="12700">
            <a:solidFill>
              <a:srgbClr val="EFD7B7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9573768" y="402336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 в личный кабинет</a:t>
            </a:r>
            <a:endParaRPr lang="en-US" sz="1250" dirty="0"/>
          </a:p>
        </p:txBody>
      </p:sp>
      <p:sp>
        <p:nvSpPr>
          <p:cNvPr id="65" name="Text 61"/>
          <p:cNvSpPr/>
          <p:nvPr/>
        </p:nvSpPr>
        <p:spPr>
          <a:xfrm>
            <a:off x="9573768" y="42611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Платежи, продукты 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персональные предложения.</a:t>
            </a:r>
            <a:endParaRPr lang="en-US" sz="1000" dirty="0"/>
          </a:p>
        </p:txBody>
      </p:sp>
      <p:sp>
        <p:nvSpPr>
          <p:cNvPr id="66" name="Shape 62"/>
          <p:cNvSpPr/>
          <p:nvPr/>
        </p:nvSpPr>
        <p:spPr>
          <a:xfrm>
            <a:off x="9573768" y="4572000"/>
            <a:ext cx="713232" cy="201168"/>
          </a:xfrm>
          <a:prstGeom prst="roundRect">
            <a:avLst>
              <a:gd name="adj" fmla="val 36364"/>
            </a:avLst>
          </a:prstGeom>
          <a:solidFill>
            <a:srgbClr val="C89A5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9573768" y="458114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Войти</a:t>
            </a:r>
            <a:endParaRPr lang="en-US" sz="1100" dirty="0"/>
          </a:p>
        </p:txBody>
      </p:sp>
      <p:sp>
        <p:nvSpPr>
          <p:cNvPr id="68" name="Shape 64"/>
          <p:cNvSpPr/>
          <p:nvPr/>
        </p:nvSpPr>
        <p:spPr>
          <a:xfrm>
            <a:off x="1069848" y="4681728"/>
            <a:ext cx="7955280" cy="749808"/>
          </a:xfrm>
          <a:prstGeom prst="roundRect">
            <a:avLst>
              <a:gd name="adj" fmla="val 9756"/>
            </a:avLst>
          </a:prstGeom>
          <a:solidFill>
            <a:srgbClr val="FBF8F4"/>
          </a:solidFill>
          <a:ln w="12700">
            <a:solidFill>
              <a:srgbClr val="EAE3D9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1289304" y="490118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Быстрые переходы</a:t>
            </a:r>
            <a:endParaRPr lang="en-US" sz="1250" dirty="0"/>
          </a:p>
        </p:txBody>
      </p:sp>
      <p:sp>
        <p:nvSpPr>
          <p:cNvPr id="70" name="Shape 66"/>
          <p:cNvSpPr/>
          <p:nvPr/>
        </p:nvSpPr>
        <p:spPr>
          <a:xfrm>
            <a:off x="2423160" y="4864608"/>
            <a:ext cx="1152144" cy="201168"/>
          </a:xfrm>
          <a:prstGeom prst="roundRect">
            <a:avLst>
              <a:gd name="adj" fmla="val 36364"/>
            </a:avLst>
          </a:prstGeom>
          <a:solidFill>
            <a:srgbClr val="E8D2AF"/>
          </a:solidFill>
          <a:ln w="12700">
            <a:solidFill>
              <a:srgbClr val="E8D2AF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2423160" y="487375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Подобрать карту</a:t>
            </a:r>
            <a:endParaRPr lang="en-US" sz="1100" dirty="0"/>
          </a:p>
        </p:txBody>
      </p:sp>
      <p:sp>
        <p:nvSpPr>
          <p:cNvPr id="72" name="Shape 68"/>
          <p:cNvSpPr/>
          <p:nvPr/>
        </p:nvSpPr>
        <p:spPr>
          <a:xfrm>
            <a:off x="3721608" y="4864608"/>
            <a:ext cx="1078992" cy="201168"/>
          </a:xfrm>
          <a:prstGeom prst="roundRect">
            <a:avLst>
              <a:gd name="adj" fmla="val 36364"/>
            </a:avLst>
          </a:prstGeom>
          <a:solidFill>
            <a:srgbClr val="E8D2AF"/>
          </a:solidFill>
          <a:ln w="12700">
            <a:solidFill>
              <a:srgbClr val="E8D2AF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3721608" y="487375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Рассчитать кредит</a:t>
            </a:r>
            <a:endParaRPr lang="en-US" sz="1100" dirty="0"/>
          </a:p>
        </p:txBody>
      </p:sp>
      <p:sp>
        <p:nvSpPr>
          <p:cNvPr id="74" name="Shape 70"/>
          <p:cNvSpPr/>
          <p:nvPr/>
        </p:nvSpPr>
        <p:spPr>
          <a:xfrm>
            <a:off x="5020056" y="4864608"/>
            <a:ext cx="1078992" cy="201168"/>
          </a:xfrm>
          <a:prstGeom prst="roundRect">
            <a:avLst>
              <a:gd name="adj" fmla="val 36364"/>
            </a:avLst>
          </a:prstGeom>
          <a:solidFill>
            <a:srgbClr val="DDD9FF"/>
          </a:solidFill>
          <a:ln w="12700">
            <a:solidFill>
              <a:srgbClr val="DDD9FF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5020056" y="487375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Инвестировать</a:t>
            </a:r>
            <a:endParaRPr lang="en-US" sz="1100" dirty="0"/>
          </a:p>
        </p:txBody>
      </p:sp>
      <p:sp>
        <p:nvSpPr>
          <p:cNvPr id="76" name="Shape 72"/>
          <p:cNvSpPr/>
          <p:nvPr/>
        </p:nvSpPr>
        <p:spPr>
          <a:xfrm>
            <a:off x="6318504" y="4864608"/>
            <a:ext cx="1078992" cy="201168"/>
          </a:xfrm>
          <a:prstGeom prst="roundRect">
            <a:avLst>
              <a:gd name="adj" fmla="val 36364"/>
            </a:avLst>
          </a:prstGeom>
          <a:solidFill>
            <a:srgbClr val="E8D2AF"/>
          </a:solidFill>
          <a:ln w="12700">
            <a:solidFill>
              <a:srgbClr val="E8D2AF"/>
            </a:solidFill>
            <a:prstDash val="solid"/>
          </a:ln>
        </p:spPr>
      </p:sp>
      <p:sp>
        <p:nvSpPr>
          <p:cNvPr id="77" name="Text 73"/>
          <p:cNvSpPr/>
          <p:nvPr/>
        </p:nvSpPr>
        <p:spPr>
          <a:xfrm>
            <a:off x="6318504" y="487375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офис</a:t>
            </a:r>
            <a:endParaRPr lang="en-US" sz="1100" dirty="0"/>
          </a:p>
        </p:txBody>
      </p:sp>
      <p:sp>
        <p:nvSpPr>
          <p:cNvPr id="78" name="Shape 74"/>
          <p:cNvSpPr/>
          <p:nvPr/>
        </p:nvSpPr>
        <p:spPr>
          <a:xfrm>
            <a:off x="7616952" y="4864608"/>
            <a:ext cx="1078992" cy="201168"/>
          </a:xfrm>
          <a:prstGeom prst="roundRect">
            <a:avLst>
              <a:gd name="adj" fmla="val 36364"/>
            </a:avLst>
          </a:prstGeom>
          <a:solidFill>
            <a:srgbClr val="E8D2AF"/>
          </a:solidFill>
          <a:ln w="12700">
            <a:solidFill>
              <a:srgbClr val="E8D2AF"/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7616952" y="487375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Получить помощь</a:t>
            </a:r>
            <a:endParaRPr lang="en-US" sz="1100" dirty="0"/>
          </a:p>
        </p:txBody>
      </p:sp>
      <p:sp>
        <p:nvSpPr>
          <p:cNvPr id="80" name="Shape 76"/>
          <p:cNvSpPr/>
          <p:nvPr/>
        </p:nvSpPr>
        <p:spPr>
          <a:xfrm>
            <a:off x="9893808" y="402336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E8D2AF"/>
          </a:solidFill>
          <a:ln w="12700">
            <a:solidFill>
              <a:srgbClr val="E8D2AF"/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>
            <a:off x="9893808" y="4114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final menu</a:t>
            </a:r>
            <a:endParaRPr lang="en-US" sz="1100" dirty="0"/>
          </a:p>
        </p:txBody>
      </p:sp>
      <p:sp>
        <p:nvSpPr>
          <p:cNvPr id="82" name="Text 78"/>
          <p:cNvSpPr/>
          <p:nvPr/>
        </p:nvSpPr>
        <p:spPr>
          <a:xfrm>
            <a:off x="1143000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Адаптивная версия: tablet + mobile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Сетка упрощается, но атмосфера и продуктовая логика сохраняются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603504" y="1225296"/>
            <a:ext cx="6711696" cy="5120640"/>
          </a:xfrm>
          <a:prstGeom prst="roundRect">
            <a:avLst>
              <a:gd name="adj" fmla="val 3214"/>
            </a:avLst>
          </a:prstGeom>
          <a:solidFill>
            <a:srgbClr val="171B22"/>
          </a:solidFill>
          <a:ln w="12700">
            <a:solidFill>
              <a:srgbClr val="171B22"/>
            </a:solidFill>
            <a:prstDash val="solid"/>
          </a:ln>
          <a:effectLst>
            <a:outerShdw sx="100000" sy="100000" kx="0" ky="0" algn="bl" rotWithShape="0" blurRad="15240" dist="1524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316736"/>
            <a:ext cx="6528816" cy="4937760"/>
          </a:xfrm>
          <a:prstGeom prst="roundRect">
            <a:avLst>
              <a:gd name="adj" fmla="val 2222"/>
            </a:avLst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02752" y="1225296"/>
            <a:ext cx="2697480" cy="5358384"/>
          </a:xfrm>
          <a:prstGeom prst="roundRect">
            <a:avLst>
              <a:gd name="adj" fmla="val 7458"/>
            </a:avLst>
          </a:prstGeom>
          <a:solidFill>
            <a:srgbClr val="171B22"/>
          </a:solidFill>
          <a:ln w="12700">
            <a:solidFill>
              <a:srgbClr val="171B22"/>
            </a:solidFill>
            <a:prstDash val="solid"/>
          </a:ln>
          <a:effectLst>
            <a:outerShdw sx="100000" sy="100000" kx="0" ky="0" algn="bl" rotWithShape="0" blurRad="15240" dist="1524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375904" y="1298448"/>
            <a:ext cx="2551176" cy="5212080"/>
          </a:xfrm>
          <a:prstGeom prst="roundRect">
            <a:avLst>
              <a:gd name="adj" fmla="val 6452"/>
            </a:avLst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92920" y="1325880"/>
            <a:ext cx="917143" cy="73152"/>
          </a:xfrm>
          <a:prstGeom prst="roundRect">
            <a:avLst>
              <a:gd name="adj" fmla="val 50000"/>
            </a:avLst>
          </a:prstGeom>
          <a:solidFill>
            <a:srgbClr val="2D3138"/>
          </a:solidFill>
          <a:ln w="12700">
            <a:solidFill>
              <a:srgbClr val="2D31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371600"/>
            <a:ext cx="6455664" cy="4864608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1444752"/>
            <a:ext cx="292608" cy="292608"/>
          </a:xfrm>
          <a:prstGeom prst="ellipse">
            <a:avLst/>
          </a:prstGeom>
          <a:solidFill>
            <a:srgbClr val="FBF8F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47675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25296" y="144932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Русский Стандарт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25296" y="159562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banking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291072" y="1463040"/>
            <a:ext cx="731520" cy="219456"/>
          </a:xfrm>
          <a:prstGeom prst="roundRect">
            <a:avLst>
              <a:gd name="adj" fmla="val 33333"/>
            </a:avLst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472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Войти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" y="1865376"/>
            <a:ext cx="6236208" cy="1078992"/>
          </a:xfrm>
          <a:prstGeom prst="roundRect">
            <a:avLst>
              <a:gd name="adj" fmla="val 10169"/>
            </a:avLst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pic>
        <p:nvPicPr>
          <p:cNvPr id="17" name="Image 0" descr="hero_vertical.png">    </p:cNvPr>
          <p:cNvPicPr>
            <a:picLocks noChangeAspect="1"/>
          </p:cNvPicPr>
          <p:nvPr/>
        </p:nvPicPr>
        <p:blipFill>
          <a:blip r:embed="rId1"/>
          <a:srcRect l="0" r="0" t="28682" b="28682"/>
          <a:stretch/>
        </p:blipFill>
        <p:spPr>
          <a:xfrm>
            <a:off x="5449824" y="1901952"/>
            <a:ext cx="1572768" cy="10058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87552" y="212140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сценарии жизни —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одном банковском сервисе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87552" y="2688336"/>
            <a:ext cx="1115568" cy="201168"/>
          </a:xfrm>
          <a:prstGeom prst="roundRect">
            <a:avLst>
              <a:gd name="adj" fmla="val 36364"/>
            </a:avLst>
          </a:prstGeom>
          <a:solidFill>
            <a:srgbClr val="C89A5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7552" y="269748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Подобрать продукт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41248" y="309067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Популярные продукты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41248" y="3310128"/>
            <a:ext cx="18288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7E0D6"/>
            </a:solidFill>
            <a:prstDash val="solid"/>
          </a:ln>
          <a:effectLst>
            <a:outerShdw sx="100000" sy="100000" kx="0" ky="0" algn="bl" rotWithShape="0" blurRad="10160" dist="10160" dir="27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69264" y="3438144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F2E1C6"/>
          </a:solidFill>
          <a:ln w="12700">
            <a:solidFill>
              <a:srgbClr val="F2E1C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35024" y="3456432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969264" y="382219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Карты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969264" y="4023360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Кешбек и категории.</a:t>
            </a:r>
            <a:endParaRPr lang="en-US" sz="860" dirty="0"/>
          </a:p>
        </p:txBody>
      </p:sp>
      <p:sp>
        <p:nvSpPr>
          <p:cNvPr id="27" name="Shape 24"/>
          <p:cNvSpPr/>
          <p:nvPr/>
        </p:nvSpPr>
        <p:spPr>
          <a:xfrm>
            <a:off x="969264" y="3986784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F7F2EA"/>
          </a:solidFill>
          <a:ln w="12700">
            <a:solidFill>
              <a:srgbClr val="F7F2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69264" y="399592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Подробнее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798064" y="3310128"/>
            <a:ext cx="18288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7E0D6"/>
            </a:solidFill>
            <a:prstDash val="solid"/>
          </a:ln>
          <a:effectLst>
            <a:outerShdw sx="100000" sy="100000" kx="0" ky="0" algn="bl" rotWithShape="0" blurRad="10160" dist="10160" dir="27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926080" y="3438144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E1DBFF"/>
          </a:solidFill>
          <a:ln w="12700">
            <a:solidFill>
              <a:srgbClr val="E1DB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91840" y="3456432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780" dirty="0"/>
          </a:p>
        </p:txBody>
      </p:sp>
      <p:sp>
        <p:nvSpPr>
          <p:cNvPr id="32" name="Text 29"/>
          <p:cNvSpPr/>
          <p:nvPr/>
        </p:nvSpPr>
        <p:spPr>
          <a:xfrm>
            <a:off x="2926080" y="382219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Кредиты</a:t>
            </a:r>
            <a:endParaRPr lang="en-US" sz="1120" dirty="0"/>
          </a:p>
        </p:txBody>
      </p:sp>
      <p:sp>
        <p:nvSpPr>
          <p:cNvPr id="33" name="Text 30"/>
          <p:cNvSpPr/>
          <p:nvPr/>
        </p:nvSpPr>
        <p:spPr>
          <a:xfrm>
            <a:off x="2926080" y="4023360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Онлайн-расчёт.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2926080" y="3986784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F7F2EA"/>
          </a:solidFill>
          <a:ln w="12700">
            <a:solidFill>
              <a:srgbClr val="F7F2E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926080" y="399592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Подробнее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754880" y="3310128"/>
            <a:ext cx="18288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7E0D6"/>
            </a:solidFill>
            <a:prstDash val="solid"/>
          </a:ln>
          <a:effectLst>
            <a:outerShdw sx="100000" sy="100000" kx="0" ky="0" algn="bl" rotWithShape="0" blurRad="10160" dist="10160" dir="270000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882896" y="3438144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F3E6D7"/>
          </a:solidFill>
          <a:ln w="12700">
            <a:solidFill>
              <a:srgbClr val="F3E6D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248656" y="3456432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4882896" y="382219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</a:t>
            </a:r>
            <a:endParaRPr lang="en-US" sz="1120" dirty="0"/>
          </a:p>
        </p:txBody>
      </p:sp>
      <p:sp>
        <p:nvSpPr>
          <p:cNvPr id="40" name="Text 37"/>
          <p:cNvSpPr/>
          <p:nvPr/>
        </p:nvSpPr>
        <p:spPr>
          <a:xfrm>
            <a:off x="4882896" y="4023360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Билеты и страховка.</a:t>
            </a:r>
            <a:endParaRPr lang="en-US" sz="860" dirty="0"/>
          </a:p>
        </p:txBody>
      </p:sp>
      <p:sp>
        <p:nvSpPr>
          <p:cNvPr id="41" name="Shape 38"/>
          <p:cNvSpPr/>
          <p:nvPr/>
        </p:nvSpPr>
        <p:spPr>
          <a:xfrm>
            <a:off x="4882896" y="3986784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F7F2EA"/>
          </a:solidFill>
          <a:ln w="12700">
            <a:solidFill>
              <a:srgbClr val="F7F2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82896" y="399592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Подробнее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41248" y="4425696"/>
            <a:ext cx="2880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7E0D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05840" y="460857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Кредитный калькулятор</a:t>
            </a:r>
            <a:endParaRPr lang="en-US" sz="1220" dirty="0"/>
          </a:p>
        </p:txBody>
      </p:sp>
      <p:sp>
        <p:nvSpPr>
          <p:cNvPr id="45" name="Shape 42"/>
          <p:cNvSpPr/>
          <p:nvPr/>
        </p:nvSpPr>
        <p:spPr>
          <a:xfrm>
            <a:off x="1005840" y="4864608"/>
            <a:ext cx="1737360" cy="73152"/>
          </a:xfrm>
          <a:prstGeom prst="roundRect">
            <a:avLst>
              <a:gd name="adj" fmla="val 50000"/>
            </a:avLst>
          </a:prstGeom>
          <a:solidFill>
            <a:srgbClr val="E6DECF"/>
          </a:solidFill>
          <a:ln w="12700">
            <a:solidFill>
              <a:srgbClr val="E6DEC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005840" y="4864608"/>
            <a:ext cx="1078992" cy="73152"/>
          </a:xfrm>
          <a:prstGeom prst="roundRect">
            <a:avLst>
              <a:gd name="adj" fmla="val 50000"/>
            </a:avLst>
          </a:prstGeom>
          <a:solidFill>
            <a:srgbClr val="C89A5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852928" y="4590288"/>
            <a:ext cx="713232" cy="457200"/>
          </a:xfrm>
          <a:prstGeom prst="roundRect">
            <a:avLst>
              <a:gd name="adj" fmla="val 16000"/>
            </a:avLst>
          </a:prstGeom>
          <a:solidFill>
            <a:srgbClr val="FAF6F0"/>
          </a:solidFill>
          <a:ln w="12700">
            <a:solidFill>
              <a:srgbClr val="E8E1D7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962656" y="4700016"/>
            <a:ext cx="237744" cy="237744"/>
          </a:xfrm>
          <a:prstGeom prst="roundRect">
            <a:avLst>
              <a:gd name="adj" fmla="val 30769"/>
            </a:avLst>
          </a:prstGeom>
          <a:solidFill>
            <a:srgbClr val="C89A5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273552" y="47000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Платёж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2962656" y="501091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25k</a:t>
            </a:r>
            <a:endParaRPr lang="en-US" sz="1800" dirty="0"/>
          </a:p>
        </p:txBody>
      </p:sp>
      <p:sp>
        <p:nvSpPr>
          <p:cNvPr id="51" name="Shape 48"/>
          <p:cNvSpPr/>
          <p:nvPr/>
        </p:nvSpPr>
        <p:spPr>
          <a:xfrm>
            <a:off x="3877056" y="4425696"/>
            <a:ext cx="2706624" cy="786384"/>
          </a:xfrm>
          <a:prstGeom prst="roundRect">
            <a:avLst>
              <a:gd name="adj" fmla="val 9302"/>
            </a:avLst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059936" y="460857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Офисы и банкоматы</a:t>
            </a:r>
            <a:endParaRPr lang="en-US" sz="1220" dirty="0"/>
          </a:p>
        </p:txBody>
      </p:sp>
      <p:sp>
        <p:nvSpPr>
          <p:cNvPr id="53" name="Shape 50"/>
          <p:cNvSpPr/>
          <p:nvPr/>
        </p:nvSpPr>
        <p:spPr>
          <a:xfrm>
            <a:off x="4059936" y="4846320"/>
            <a:ext cx="2240280" cy="256032"/>
          </a:xfrm>
          <a:prstGeom prst="roundRect">
            <a:avLst>
              <a:gd name="adj" fmla="val 21429"/>
            </a:avLst>
          </a:prstGeom>
          <a:solidFill>
            <a:srgbClr val="1B2129"/>
          </a:solidFill>
          <a:ln w="12700">
            <a:solidFill>
              <a:srgbClr val="303743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315968" y="4928616"/>
            <a:ext cx="73152" cy="73152"/>
          </a:xfrm>
          <a:prstGeom prst="ellipse">
            <a:avLst/>
          </a:prstGeom>
          <a:solidFill>
            <a:srgbClr val="C89A5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828032" y="5029200"/>
            <a:ext cx="73152" cy="73152"/>
          </a:xfrm>
          <a:prstGeom prst="ellipse">
            <a:avLst/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394960" y="4901184"/>
            <a:ext cx="73152" cy="73152"/>
          </a:xfrm>
          <a:prstGeom prst="ellipse">
            <a:avLst/>
          </a:prstGeom>
          <a:solidFill>
            <a:srgbClr val="1E9B78"/>
          </a:solidFill>
          <a:ln w="12700">
            <a:solidFill>
              <a:srgbClr val="1E9B7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394192" y="1408176"/>
            <a:ext cx="2514600" cy="5084064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394192" y="1408176"/>
            <a:ext cx="2514600" cy="329184"/>
          </a:xfrm>
          <a:prstGeom prst="rect">
            <a:avLst/>
          </a:prstGeom>
          <a:solidFill>
            <a:srgbClr val="FBF8F4"/>
          </a:solidFill>
          <a:ln w="12700">
            <a:solidFill>
              <a:srgbClr val="FBF8F4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503920" y="1499616"/>
            <a:ext cx="164592" cy="164592"/>
          </a:xfrm>
          <a:prstGeom prst="ellipse">
            <a:avLst/>
          </a:prstGeom>
          <a:solidFill>
            <a:srgbClr val="FBF8F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526780" y="1516075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</a:t>
            </a:r>
            <a:endParaRPr lang="en-US" sz="720" dirty="0"/>
          </a:p>
        </p:txBody>
      </p:sp>
      <p:sp>
        <p:nvSpPr>
          <p:cNvPr id="61" name="Text 58"/>
          <p:cNvSpPr/>
          <p:nvPr/>
        </p:nvSpPr>
        <p:spPr>
          <a:xfrm>
            <a:off x="10168128" y="152704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Меню</a:t>
            </a:r>
            <a:endParaRPr lang="en-US" sz="830" dirty="0"/>
          </a:p>
        </p:txBody>
      </p:sp>
      <p:sp>
        <p:nvSpPr>
          <p:cNvPr id="62" name="Shape 59"/>
          <p:cNvSpPr/>
          <p:nvPr/>
        </p:nvSpPr>
        <p:spPr>
          <a:xfrm>
            <a:off x="8485632" y="182880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pic>
        <p:nvPicPr>
          <p:cNvPr id="63" name="Image 1" descr="hero_vertical.png">    </p:cNvPr>
          <p:cNvPicPr>
            <a:picLocks noChangeAspect="1"/>
          </p:cNvPicPr>
          <p:nvPr/>
        </p:nvPicPr>
        <p:blipFill>
          <a:blip r:embed="rId2"/>
          <a:srcRect l="0" r="0" t="23099" b="23099"/>
          <a:stretch/>
        </p:blipFill>
        <p:spPr>
          <a:xfrm>
            <a:off x="9546336" y="1865376"/>
            <a:ext cx="1042416" cy="841248"/>
          </a:xfrm>
          <a:prstGeom prst="rect">
            <a:avLst/>
          </a:prstGeom>
        </p:spPr>
      </p:pic>
      <p:sp>
        <p:nvSpPr>
          <p:cNvPr id="64" name="Text 60"/>
          <p:cNvSpPr/>
          <p:nvPr/>
        </p:nvSpPr>
        <p:spPr>
          <a:xfrm>
            <a:off x="8558784" y="19751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 для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жизни</a:t>
            </a:r>
            <a:endParaRPr lang="en-US" sz="1150" dirty="0"/>
          </a:p>
        </p:txBody>
      </p:sp>
      <p:sp>
        <p:nvSpPr>
          <p:cNvPr id="65" name="Shape 61"/>
          <p:cNvSpPr/>
          <p:nvPr/>
        </p:nvSpPr>
        <p:spPr>
          <a:xfrm>
            <a:off x="8558784" y="2395728"/>
            <a:ext cx="566928" cy="146304"/>
          </a:xfrm>
          <a:prstGeom prst="roundRect">
            <a:avLst>
              <a:gd name="adj" fmla="val 50000"/>
            </a:avLst>
          </a:prstGeom>
          <a:solidFill>
            <a:srgbClr val="C89A5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8558784" y="240487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Подобрать</a:t>
            </a:r>
            <a:endParaRPr lang="en-US" sz="1100" dirty="0"/>
          </a:p>
        </p:txBody>
      </p:sp>
      <p:sp>
        <p:nvSpPr>
          <p:cNvPr id="67" name="Text 63"/>
          <p:cNvSpPr/>
          <p:nvPr/>
        </p:nvSpPr>
        <p:spPr>
          <a:xfrm>
            <a:off x="8485632" y="2889504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Продукты</a:t>
            </a:r>
            <a:endParaRPr lang="en-US" sz="960" dirty="0"/>
          </a:p>
        </p:txBody>
      </p:sp>
      <p:sp>
        <p:nvSpPr>
          <p:cNvPr id="68" name="Shape 64"/>
          <p:cNvSpPr/>
          <p:nvPr/>
        </p:nvSpPr>
        <p:spPr>
          <a:xfrm>
            <a:off x="8485632" y="3035808"/>
            <a:ext cx="2331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7E0D6"/>
            </a:solidFill>
            <a:prstDash val="solid"/>
          </a:ln>
          <a:effectLst>
            <a:outerShdw sx="100000" sy="100000" kx="0" ky="0" algn="bl" rotWithShape="0" blurRad="10160" dist="10160" dir="2700000">
              <a:srgbClr val="000000">
                <a:alpha val="8000"/>
              </a:srgbClr>
            </a:outerShdw>
          </a:effectLst>
        </p:spPr>
      </p:sp>
      <p:sp>
        <p:nvSpPr>
          <p:cNvPr id="69" name="Shape 65"/>
          <p:cNvSpPr/>
          <p:nvPr/>
        </p:nvSpPr>
        <p:spPr>
          <a:xfrm>
            <a:off x="8613648" y="3163824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F2E1C6"/>
          </a:solidFill>
          <a:ln w="12700">
            <a:solidFill>
              <a:srgbClr val="F2E1C6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8979408" y="3182112"/>
            <a:ext cx="1709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</a:t>
            </a:r>
            <a:endParaRPr lang="en-US" sz="780" dirty="0"/>
          </a:p>
        </p:txBody>
      </p:sp>
      <p:sp>
        <p:nvSpPr>
          <p:cNvPr id="71" name="Text 67"/>
          <p:cNvSpPr/>
          <p:nvPr/>
        </p:nvSpPr>
        <p:spPr>
          <a:xfrm>
            <a:off x="8613648" y="3547872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Карты с кешбеком</a:t>
            </a:r>
            <a:endParaRPr lang="en-US" sz="1120" dirty="0"/>
          </a:p>
        </p:txBody>
      </p:sp>
      <p:sp>
        <p:nvSpPr>
          <p:cNvPr id="72" name="Text 68"/>
          <p:cNvSpPr/>
          <p:nvPr/>
        </p:nvSpPr>
        <p:spPr>
          <a:xfrm>
            <a:off x="8613648" y="3749040"/>
            <a:ext cx="2075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Категории и бонусы.</a:t>
            </a:r>
            <a:endParaRPr lang="en-US" sz="860" dirty="0"/>
          </a:p>
        </p:txBody>
      </p:sp>
      <p:sp>
        <p:nvSpPr>
          <p:cNvPr id="73" name="Shape 69"/>
          <p:cNvSpPr/>
          <p:nvPr/>
        </p:nvSpPr>
        <p:spPr>
          <a:xfrm>
            <a:off x="8613648" y="3511296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F7F2EA"/>
          </a:solidFill>
          <a:ln w="12700">
            <a:solidFill>
              <a:srgbClr val="F7F2EA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8613648" y="352044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Подробнее</a:t>
            </a:r>
            <a:endParaRPr lang="en-US" sz="1100" dirty="0"/>
          </a:p>
        </p:txBody>
      </p:sp>
      <p:sp>
        <p:nvSpPr>
          <p:cNvPr id="75" name="Shape 71"/>
          <p:cNvSpPr/>
          <p:nvPr/>
        </p:nvSpPr>
        <p:spPr>
          <a:xfrm>
            <a:off x="8485632" y="3822192"/>
            <a:ext cx="2331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7E0D6"/>
            </a:solidFill>
            <a:prstDash val="solid"/>
          </a:ln>
          <a:effectLst>
            <a:outerShdw sx="100000" sy="100000" kx="0" ky="0" algn="bl" rotWithShape="0" blurRad="10160" dist="10160" dir="2700000">
              <a:srgbClr val="000000">
                <a:alpha val="8000"/>
              </a:srgbClr>
            </a:outerShdw>
          </a:effectLst>
        </p:spPr>
      </p:sp>
      <p:sp>
        <p:nvSpPr>
          <p:cNvPr id="76" name="Shape 72"/>
          <p:cNvSpPr/>
          <p:nvPr/>
        </p:nvSpPr>
        <p:spPr>
          <a:xfrm>
            <a:off x="8613648" y="3950208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E1DBFF"/>
          </a:solidFill>
          <a:ln w="12700">
            <a:solidFill>
              <a:srgbClr val="E1DBFF"/>
            </a:solidFill>
            <a:prstDash val="solid"/>
          </a:ln>
        </p:spPr>
      </p:sp>
      <p:sp>
        <p:nvSpPr>
          <p:cNvPr id="77" name="Text 73"/>
          <p:cNvSpPr/>
          <p:nvPr/>
        </p:nvSpPr>
        <p:spPr>
          <a:xfrm>
            <a:off x="8979408" y="3968496"/>
            <a:ext cx="1709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780" dirty="0"/>
          </a:p>
        </p:txBody>
      </p:sp>
      <p:sp>
        <p:nvSpPr>
          <p:cNvPr id="78" name="Text 74"/>
          <p:cNvSpPr/>
          <p:nvPr/>
        </p:nvSpPr>
        <p:spPr>
          <a:xfrm>
            <a:off x="8613648" y="4334256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 наличными</a:t>
            </a:r>
            <a:endParaRPr lang="en-US" sz="1120" dirty="0"/>
          </a:p>
        </p:txBody>
      </p:sp>
      <p:sp>
        <p:nvSpPr>
          <p:cNvPr id="79" name="Text 75"/>
          <p:cNvSpPr/>
          <p:nvPr/>
        </p:nvSpPr>
        <p:spPr>
          <a:xfrm>
            <a:off x="8613648" y="4535424"/>
            <a:ext cx="2075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за пару минут.</a:t>
            </a:r>
            <a:endParaRPr lang="en-US" sz="860" dirty="0"/>
          </a:p>
        </p:txBody>
      </p:sp>
      <p:sp>
        <p:nvSpPr>
          <p:cNvPr id="80" name="Shape 76"/>
          <p:cNvSpPr/>
          <p:nvPr/>
        </p:nvSpPr>
        <p:spPr>
          <a:xfrm>
            <a:off x="8613648" y="4297680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F7F2EA"/>
          </a:solidFill>
          <a:ln w="12700">
            <a:solidFill>
              <a:srgbClr val="F7F2EA"/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>
            <a:off x="8613648" y="430682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Подробнее</a:t>
            </a:r>
            <a:endParaRPr lang="en-US" sz="1100" dirty="0"/>
          </a:p>
        </p:txBody>
      </p:sp>
      <p:sp>
        <p:nvSpPr>
          <p:cNvPr id="82" name="Shape 78"/>
          <p:cNvSpPr/>
          <p:nvPr/>
        </p:nvSpPr>
        <p:spPr>
          <a:xfrm>
            <a:off x="8485632" y="4626864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E0D6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8595360" y="4773168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Калькулятор</a:t>
            </a:r>
            <a:endParaRPr lang="en-US" sz="960" dirty="0"/>
          </a:p>
        </p:txBody>
      </p:sp>
      <p:sp>
        <p:nvSpPr>
          <p:cNvPr id="84" name="Shape 80"/>
          <p:cNvSpPr/>
          <p:nvPr/>
        </p:nvSpPr>
        <p:spPr>
          <a:xfrm>
            <a:off x="8595360" y="4974336"/>
            <a:ext cx="969264" cy="64008"/>
          </a:xfrm>
          <a:prstGeom prst="roundRect">
            <a:avLst>
              <a:gd name="adj" fmla="val 57143"/>
            </a:avLst>
          </a:prstGeom>
          <a:solidFill>
            <a:srgbClr val="E6DECF"/>
          </a:solidFill>
          <a:ln w="12700">
            <a:solidFill>
              <a:srgbClr val="E6DECF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8595360" y="4974336"/>
            <a:ext cx="566928" cy="64008"/>
          </a:xfrm>
          <a:prstGeom prst="roundRect">
            <a:avLst>
              <a:gd name="adj" fmla="val 57143"/>
            </a:avLst>
          </a:prstGeom>
          <a:solidFill>
            <a:srgbClr val="C89A5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9692640" y="4754880"/>
            <a:ext cx="713232" cy="365760"/>
          </a:xfrm>
          <a:prstGeom prst="roundRect">
            <a:avLst>
              <a:gd name="adj" fmla="val 20000"/>
            </a:avLst>
          </a:prstGeom>
          <a:solidFill>
            <a:srgbClr val="FAF6F0"/>
          </a:solidFill>
          <a:ln w="12700">
            <a:solidFill>
              <a:srgbClr val="E8E1D7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9802368" y="4864608"/>
            <a:ext cx="237744" cy="237744"/>
          </a:xfrm>
          <a:prstGeom prst="roundRect">
            <a:avLst>
              <a:gd name="adj" fmla="val 30769"/>
            </a:avLst>
          </a:prstGeom>
          <a:solidFill>
            <a:srgbClr val="C89A5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10113264" y="486460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Платёж</a:t>
            </a:r>
            <a:endParaRPr lang="en-US" sz="1000" dirty="0"/>
          </a:p>
        </p:txBody>
      </p:sp>
      <p:sp>
        <p:nvSpPr>
          <p:cNvPr id="89" name="Text 85"/>
          <p:cNvSpPr/>
          <p:nvPr/>
        </p:nvSpPr>
        <p:spPr>
          <a:xfrm>
            <a:off x="9802368" y="5175504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25k</a:t>
            </a:r>
            <a:endParaRPr lang="en-US" sz="1800" dirty="0"/>
          </a:p>
        </p:txBody>
      </p:sp>
      <p:sp>
        <p:nvSpPr>
          <p:cNvPr id="90" name="Shape 86"/>
          <p:cNvSpPr/>
          <p:nvPr/>
        </p:nvSpPr>
        <p:spPr>
          <a:xfrm>
            <a:off x="8485632" y="5413248"/>
            <a:ext cx="2331720" cy="493776"/>
          </a:xfrm>
          <a:prstGeom prst="roundRect">
            <a:avLst>
              <a:gd name="adj" fmla="val 14815"/>
            </a:avLst>
          </a:prstGeom>
          <a:solidFill>
            <a:srgbClr val="FFF6EA"/>
          </a:solidFill>
          <a:ln w="12700">
            <a:solidFill>
              <a:srgbClr val="EFD7B7"/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8595360" y="5568696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Спецпредложения</a:t>
            </a:r>
            <a:endParaRPr lang="en-US" sz="880" dirty="0"/>
          </a:p>
        </p:txBody>
      </p:sp>
      <p:sp>
        <p:nvSpPr>
          <p:cNvPr id="92" name="Shape 88"/>
          <p:cNvSpPr/>
          <p:nvPr/>
        </p:nvSpPr>
        <p:spPr>
          <a:xfrm>
            <a:off x="9765792" y="5541264"/>
            <a:ext cx="512064" cy="128016"/>
          </a:xfrm>
          <a:prstGeom prst="roundRect">
            <a:avLst>
              <a:gd name="adj" fmla="val 57143"/>
            </a:avLst>
          </a:prstGeom>
          <a:solidFill>
            <a:srgbClr val="C89A54"/>
          </a:solidFill>
          <a:ln w="12700">
            <a:solidFill>
              <a:srgbClr val="C89A54"/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9765792" y="5550408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100" dirty="0"/>
          </a:p>
        </p:txBody>
      </p:sp>
      <p:sp>
        <p:nvSpPr>
          <p:cNvPr id="94" name="Shape 90"/>
          <p:cNvSpPr/>
          <p:nvPr/>
        </p:nvSpPr>
        <p:spPr>
          <a:xfrm>
            <a:off x="11201400" y="2029968"/>
            <a:ext cx="585216" cy="17373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DBD0"/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11301984" y="2176272"/>
            <a:ext cx="384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tablet остаются широкие продуктовые карточки и сценарий рядом: калькулятор + карта.</a:t>
            </a:r>
            <a:endParaRPr lang="en-US" sz="800" dirty="0"/>
          </a:p>
        </p:txBody>
      </p:sp>
      <p:sp>
        <p:nvSpPr>
          <p:cNvPr id="96" name="Shape 92"/>
          <p:cNvSpPr/>
          <p:nvPr/>
        </p:nvSpPr>
        <p:spPr>
          <a:xfrm>
            <a:off x="11201400" y="4096512"/>
            <a:ext cx="585216" cy="170078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DBD0"/>
            </a:solidFill>
            <a:prstDash val="solid"/>
          </a:ln>
        </p:spPr>
      </p:sp>
      <p:sp>
        <p:nvSpPr>
          <p:cNvPr id="97" name="Text 93"/>
          <p:cNvSpPr/>
          <p:nvPr/>
        </p:nvSpPr>
        <p:spPr>
          <a:xfrm>
            <a:off x="11301984" y="4242816"/>
            <a:ext cx="384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mobile остаются hero, карточки продуктов, калькулятор и подписка.</a:t>
            </a:r>
            <a:endParaRPr lang="en-US" sz="800" dirty="0"/>
          </a:p>
        </p:txBody>
      </p:sp>
      <p:sp>
        <p:nvSpPr>
          <p:cNvPr id="98" name="Text 94"/>
          <p:cNvSpPr/>
          <p:nvPr/>
        </p:nvSpPr>
        <p:spPr>
          <a:xfrm>
            <a:off x="1143000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Что включено в финальный архив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Итоговые материалы для самопроверки по критериям задания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658368" y="1225296"/>
            <a:ext cx="6537960" cy="475488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4DB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499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 архива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96112" y="1901952"/>
            <a:ext cx="310896" cy="219456"/>
          </a:xfrm>
          <a:prstGeom prst="roundRect">
            <a:avLst>
              <a:gd name="adj" fmla="val 33333"/>
            </a:avLst>
          </a:prstGeom>
          <a:solidFill>
            <a:srgbClr val="E8D2AF"/>
          </a:solidFill>
          <a:ln w="12700">
            <a:solidFill>
              <a:srgbClr val="E8D2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1109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98448" y="19110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.pptx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6112" y="2359152"/>
            <a:ext cx="310896" cy="219456"/>
          </a:xfrm>
          <a:prstGeom prst="roundRect">
            <a:avLst>
              <a:gd name="adj" fmla="val 33333"/>
            </a:avLst>
          </a:prstGeom>
          <a:solidFill>
            <a:srgbClr val="E8D2AF"/>
          </a:solidFill>
          <a:ln w="12700">
            <a:solidFill>
              <a:srgbClr val="E8D2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36829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98448" y="23682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PNG: wireframe homepage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6112" y="2816352"/>
            <a:ext cx="310896" cy="219456"/>
          </a:xfrm>
          <a:prstGeom prst="roundRect">
            <a:avLst>
              <a:gd name="adj" fmla="val 33333"/>
            </a:avLst>
          </a:prstGeom>
          <a:solidFill>
            <a:srgbClr val="E8D2AF"/>
          </a:solidFill>
          <a:ln w="12700">
            <a:solidFill>
              <a:srgbClr val="E8D2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82549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98448" y="28254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PNG: wireframe menu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" y="3273552"/>
            <a:ext cx="310896" cy="219456"/>
          </a:xfrm>
          <a:prstGeom prst="roundRect">
            <a:avLst>
              <a:gd name="adj" fmla="val 33333"/>
            </a:avLst>
          </a:prstGeom>
          <a:solidFill>
            <a:srgbClr val="E8D2AF"/>
          </a:solidFill>
          <a:ln w="12700">
            <a:solidFill>
              <a:srgbClr val="E8D2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28269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98448" y="32826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PNG: final homepage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6112" y="3730752"/>
            <a:ext cx="310896" cy="219456"/>
          </a:xfrm>
          <a:prstGeom prst="roundRect">
            <a:avLst>
              <a:gd name="adj" fmla="val 33333"/>
            </a:avLst>
          </a:prstGeom>
          <a:solidFill>
            <a:srgbClr val="EDE7DE"/>
          </a:solidFill>
          <a:ln w="12700">
            <a:solidFill>
              <a:srgbClr val="EDE7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73989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98448" y="37398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PNG: final menu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6112" y="4187952"/>
            <a:ext cx="310896" cy="219456"/>
          </a:xfrm>
          <a:prstGeom prst="roundRect">
            <a:avLst>
              <a:gd name="adj" fmla="val 33333"/>
            </a:avLst>
          </a:prstGeom>
          <a:solidFill>
            <a:srgbClr val="EDE7DE"/>
          </a:solidFill>
          <a:ln w="12700">
            <a:solidFill>
              <a:srgbClr val="EDE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19709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98448" y="41970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PNG: responsive tablet+mobile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6112" y="4645152"/>
            <a:ext cx="310896" cy="219456"/>
          </a:xfrm>
          <a:prstGeom prst="roundRect">
            <a:avLst>
              <a:gd name="adj" fmla="val 33333"/>
            </a:avLst>
          </a:prstGeom>
          <a:solidFill>
            <a:srgbClr val="EDE7DE"/>
          </a:solidFill>
          <a:ln w="12700">
            <a:solidFill>
              <a:srgbClr val="EDE7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65429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98448" y="46542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README.txt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424928" y="1225296"/>
            <a:ext cx="4206240" cy="2194560"/>
          </a:xfrm>
          <a:prstGeom prst="roundRect">
            <a:avLst>
              <a:gd name="adj" fmla="val 5833"/>
            </a:avLst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99248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Самооценка по критериям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99248" y="1883664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D8D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К1 Figma — формально нет cloud-файла, но есть готовые boards для переноса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8D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К2 Презентация стадий проекта — выполнено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8D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К3 Адаптивы smartphone + tablet — выполнено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8D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К4 Прототипы homepage + menu — выполнено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8D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К5 Финальная визуализация homepage + menu — выполнено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7424928" y="3730752"/>
            <a:ext cx="4206240" cy="2249424"/>
          </a:xfrm>
          <a:prstGeom prst="roundRect">
            <a:avLst>
              <a:gd name="adj" fmla="val 5691"/>
            </a:avLst>
          </a:prstGeom>
          <a:solidFill>
            <a:srgbClr val="FFF6EA"/>
          </a:solidFill>
          <a:ln w="12700">
            <a:solidFill>
              <a:srgbClr val="EFD7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99248" y="40050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Комментарий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99248" y="4389120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F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Архив даёт готовую презентацию и визуальные boards. При необходимости следующий шаг — перенести макеты в Figma и разложить на компоненты / auto layout.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143000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Русский Стандарт — редизайн корпоративного сайта</dc:title>
  <dc:subject>Концепт редизайна сайта Банка Русский Стандарт</dc:subject>
  <dc:creator>OpenAI</dc:creator>
  <cp:lastModifiedBy>OpenAI</cp:lastModifiedBy>
  <cp:revision>1</cp:revision>
  <dcterms:created xsi:type="dcterms:W3CDTF">2026-03-08T09:09:36Z</dcterms:created>
  <dcterms:modified xsi:type="dcterms:W3CDTF">2026-03-08T09:09:36Z</dcterms:modified>
</cp:coreProperties>
</file>